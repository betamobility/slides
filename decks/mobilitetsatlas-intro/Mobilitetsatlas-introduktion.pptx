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Public transport quality</c:v>
                </c:pt>
              </c:strCache>
            </c:strRef>
          </c:tx>
          <c:spPr>
            <a:solidFill>
              <a:srgbClr val="4A7C5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Capital</c:v>
                  </c:pt>
                  <c:pt idx="1">
                    <c:v>Large city</c:v>
                  </c:pt>
                  <c:pt idx="2">
                    <c:v>Provincial</c:v>
                  </c:pt>
                  <c:pt idx="3">
                    <c:v>Commuter</c:v>
                  </c:pt>
                  <c:pt idx="4">
                    <c:v>Rural</c:v>
                  </c:pt>
                </c:lvl>
              </c:multiLvlStrCache>
            </c:multiLvlStrRef>
          </c:cat>
          <c:val>
            <c:numRef>
              <c:f>Sheet1!$B$2:$B$6</c:f>
              <c:numCache>
                <c:formatCode>General</c:formatCode>
                <c:ptCount val="5"/>
                <c:pt idx="0">
                  <c:v>80.1</c:v>
                </c:pt>
                <c:pt idx="1">
                  <c:v>64.6</c:v>
                </c:pt>
                <c:pt idx="2">
                  <c:v>46.1</c:v>
                </c:pt>
                <c:pt idx="3">
                  <c:v>39.1</c:v>
                </c:pt>
                <c:pt idx="4">
                  <c:v>25.2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A1A"/>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Inter"/>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A</c:v>
                </c:pt>
              </c:strCache>
            </c:strRef>
          </c:tx>
          <c:spPr>
            <a:solidFill>
              <a:srgbClr val="1A9850"/>
            </a:solidFill>
            <a:ln>
              <a:noFill/>
            </a:ln>
            <a:effectLst/>
          </c:spPr>
          <c:marker>
            <c:symbol val="circle"/>
            <c:size val="6"/>
            <c:spPr>
              <a:solidFill>
                <a:srgbClr val="1A9850"/>
              </a:solidFill>
              <a:ln w="9525" cap="flat">
                <a:solidFill>
                  <a:srgbClr val="1A9850"/>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Sheet1!$B$2:$B$23</c:f>
              <c:numCache>
                <c:formatCode>General</c:formatCode>
                <c:ptCount val="22"/>
                <c:pt idx="0">
                  <c:v>86.33</c:v>
                </c:pt>
                <c:pt idx="1">
                  <c:v>90.24</c:v>
                </c:pt>
                <c:pt idx="2">
                  <c:v>82.58</c:v>
                </c:pt>
                <c:pt idx="3">
                  <c:v>78.43</c:v>
                </c:pt>
                <c:pt idx="4">
                  <c:v>79.48</c:v>
                </c:pt>
                <c:pt idx="5">
                  <c:v>85.18</c:v>
                </c:pt>
                <c:pt idx="6">
                  <c:v>81.43</c:v>
                </c:pt>
                <c:pt idx="7">
                  <c:v>81.32</c:v>
                </c:pt>
                <c:pt idx="8">
                  <c:v>83.61</c:v>
                </c:pt>
                <c:pt idx="9">
                  <c:v>82.24</c:v>
                </c:pt>
                <c:pt idx="10">
                  <c:v>82.56</c:v>
                </c:pt>
                <c:pt idx="11">
                  <c:v>80.83</c:v>
                </c:pt>
                <c:pt idx="12">
                  <c:v>75.02</c:v>
                </c:pt>
                <c:pt idx="13">
                  <c:v>81.5</c:v>
                </c:pt>
                <c:pt idx="14">
                  <c:v>84.25</c:v>
                </c:pt>
                <c:pt idx="15">
                  <c:v>81.29</c:v>
                </c:pt>
                <c:pt idx="16">
                  <c:v>76.54</c:v>
                </c:pt>
                <c:pt idx="17">
                  <c:v>73.32</c:v>
                </c:pt>
                <c:pt idx="18">
                  <c:v>75.86</c:v>
                </c:pt>
                <c:pt idx="19">
                  <c:v>76.96</c:v>
                </c:pt>
                <c:pt idx="20">
                  <c:v>75.53</c:v>
                </c:pt>
                <c:pt idx="21">
                  <c:v>71.19</c:v>
                </c:pt>
              </c:numCache>
            </c:numRef>
          </c:yVal>
          <c:smooth val="0"/>
        </c:ser>
        <c:ser>
          <c:idx val="1"/>
          <c:order val="1"/>
          <c:tx>
            <c:strRef>
              <c:f>Sheet1!$C$1</c:f>
              <c:strCache>
                <c:ptCount val="1"/>
                <c:pt idx="0">
                  <c:v>B</c:v>
                </c:pt>
              </c:strCache>
            </c:strRef>
          </c:tx>
          <c:spPr>
            <a:solidFill>
              <a:srgbClr val="66BD63"/>
            </a:solidFill>
            <a:ln>
              <a:noFill/>
            </a:ln>
            <a:effectLst/>
          </c:spPr>
          <c:marker>
            <c:symbol val="circle"/>
            <c:size val="6"/>
            <c:spPr>
              <a:solidFill>
                <a:srgbClr val="66BD63"/>
              </a:solidFill>
              <a:ln w="9525" cap="flat">
                <a:solidFill>
                  <a:srgbClr val="66BD63"/>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Sheet1!$C$2:$C$23</c:f>
              <c:numCache>
                <c:formatCode>General</c:formatCode>
                <c:ptCount val="22"/>
                <c:pt idx="0">
                  <c:v>68.59</c:v>
                </c:pt>
                <c:pt idx="1">
                  <c:v>62.16</c:v>
                </c:pt>
                <c:pt idx="2">
                  <c:v>55.83</c:v>
                </c:pt>
                <c:pt idx="3">
                  <c:v>68.52</c:v>
                </c:pt>
                <c:pt idx="4">
                  <c:v>57.34</c:v>
                </c:pt>
                <c:pt idx="5">
                  <c:v>60.23</c:v>
                </c:pt>
                <c:pt idx="6">
                  <c:v>62.36</c:v>
                </c:pt>
                <c:pt idx="7">
                  <c:v>69.78</c:v>
                </c:pt>
                <c:pt idx="8">
                  <c:v>64.71</c:v>
                </c:pt>
                <c:pt idx="9">
                  <c:v/>
                </c:pt>
                <c:pt idx="10">
                  <c:v/>
                </c:pt>
                <c:pt idx="11">
                  <c:v/>
                </c:pt>
                <c:pt idx="12">
                  <c:v/>
                </c:pt>
                <c:pt idx="13">
                  <c:v/>
                </c:pt>
                <c:pt idx="14">
                  <c:v/>
                </c:pt>
                <c:pt idx="15">
                  <c:v/>
                </c:pt>
                <c:pt idx="16">
                  <c:v/>
                </c:pt>
                <c:pt idx="17">
                  <c:v/>
                </c:pt>
                <c:pt idx="18">
                  <c:v/>
                </c:pt>
                <c:pt idx="19">
                  <c:v/>
                </c:pt>
                <c:pt idx="20">
                  <c:v/>
                </c:pt>
                <c:pt idx="21">
                  <c:v/>
                </c:pt>
              </c:numCache>
            </c:numRef>
          </c:yVal>
          <c:smooth val="0"/>
        </c:ser>
        <c:ser>
          <c:idx val="2"/>
          <c:order val="2"/>
          <c:tx>
            <c:strRef>
              <c:f>Sheet1!$D$1</c:f>
              <c:strCache>
                <c:ptCount val="1"/>
                <c:pt idx="0">
                  <c:v>C</c:v>
                </c:pt>
              </c:strCache>
            </c:strRef>
          </c:tx>
          <c:spPr>
            <a:solidFill>
              <a:srgbClr val="A6D96A"/>
            </a:solidFill>
            <a:ln>
              <a:noFill/>
            </a:ln>
            <a:effectLst/>
          </c:spPr>
          <c:marker>
            <c:symbol val="circle"/>
            <c:size val="6"/>
            <c:spPr>
              <a:solidFill>
                <a:srgbClr val="A6D96A"/>
              </a:solidFill>
              <a:ln w="9525" cap="flat">
                <a:solidFill>
                  <a:srgbClr val="A6D96A"/>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Sheet1!$D$2:$D$23</c:f>
              <c:numCache>
                <c:formatCode>General</c:formatCode>
                <c:ptCount val="22"/>
                <c:pt idx="0">
                  <c:v>54.13</c:v>
                </c:pt>
                <c:pt idx="1">
                  <c:v>47.59</c:v>
                </c:pt>
                <c:pt idx="2">
                  <c:v>53.11</c:v>
                </c:pt>
                <c:pt idx="3">
                  <c:v>46.84</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numCache>
            </c:numRef>
          </c:yVal>
          <c:smooth val="0"/>
        </c:ser>
        <c:ser>
          <c:idx val="3"/>
          <c:order val="3"/>
          <c:tx>
            <c:strRef>
              <c:f>Sheet1!$E$1</c:f>
              <c:strCache>
                <c:ptCount val="1"/>
                <c:pt idx="0">
                  <c:v>D</c:v>
                </c:pt>
              </c:strCache>
            </c:strRef>
          </c:tx>
          <c:spPr>
            <a:solidFill>
              <a:srgbClr val="FEE08B"/>
            </a:solidFill>
            <a:ln>
              <a:noFill/>
            </a:ln>
            <a:effectLst/>
          </c:spPr>
          <c:marker>
            <c:symbol val="circle"/>
            <c:size val="6"/>
            <c:spPr>
              <a:solidFill>
                <a:srgbClr val="FEE08B"/>
              </a:solidFill>
              <a:ln w="9525" cap="flat">
                <a:solidFill>
                  <a:srgbClr val="FEE08B"/>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Sheet1!$E$2:$E$23</c:f>
              <c:numCache>
                <c:formatCode>General</c:formatCode>
                <c:ptCount val="22"/>
                <c:pt idx="0">
                  <c:v>36.65</c:v>
                </c:pt>
                <c:pt idx="1">
                  <c:v>44.28</c:v>
                </c:pt>
                <c:pt idx="2">
                  <c:v>36.58</c:v>
                </c:pt>
                <c:pt idx="3">
                  <c:v>41.98</c:v>
                </c:pt>
                <c:pt idx="4">
                  <c:v>33.74</c:v>
                </c:pt>
                <c:pt idx="5">
                  <c:v>30.42</c:v>
                </c:pt>
                <c:pt idx="6">
                  <c:v>40.38</c:v>
                </c:pt>
                <c:pt idx="7">
                  <c:v>38.26</c:v>
                </c:pt>
                <c:pt idx="8">
                  <c:v>42.78</c:v>
                </c:pt>
                <c:pt idx="9">
                  <c:v>42.25</c:v>
                </c:pt>
                <c:pt idx="10">
                  <c:v>31.52</c:v>
                </c:pt>
                <c:pt idx="11">
                  <c:v>40.65</c:v>
                </c:pt>
                <c:pt idx="12">
                  <c:v>36.75</c:v>
                </c:pt>
                <c:pt idx="13">
                  <c:v>40.31</c:v>
                </c:pt>
                <c:pt idx="14">
                  <c:v>42.97</c:v>
                </c:pt>
                <c:pt idx="15">
                  <c:v>44.61</c:v>
                </c:pt>
                <c:pt idx="16">
                  <c:v>31.3</c:v>
                </c:pt>
                <c:pt idx="17">
                  <c:v>31.59</c:v>
                </c:pt>
                <c:pt idx="18">
                  <c:v>35.21</c:v>
                </c:pt>
                <c:pt idx="19">
                  <c:v>31.66</c:v>
                </c:pt>
                <c:pt idx="20">
                  <c:v>32.31</c:v>
                </c:pt>
                <c:pt idx="21">
                  <c:v>33.98</c:v>
                </c:pt>
              </c:numCache>
            </c:numRef>
          </c:yVal>
          <c:smooth val="0"/>
        </c:ser>
        <c:ser>
          <c:idx val="4"/>
          <c:order val="4"/>
          <c:tx>
            <c:strRef>
              <c:f>Sheet1!$F$1</c:f>
              <c:strCache>
                <c:ptCount val="1"/>
                <c:pt idx="0">
                  <c:v>E</c:v>
                </c:pt>
              </c:strCache>
            </c:strRef>
          </c:tx>
          <c:spPr>
            <a:solidFill>
              <a:srgbClr val="F46D43"/>
            </a:solidFill>
            <a:ln>
              <a:noFill/>
            </a:ln>
            <a:effectLst/>
          </c:spPr>
          <c:marker>
            <c:symbol val="circle"/>
            <c:size val="6"/>
            <c:spPr>
              <a:solidFill>
                <a:srgbClr val="F46D43"/>
              </a:solidFill>
              <a:ln w="9525" cap="flat">
                <a:solidFill>
                  <a:srgbClr val="F46D43"/>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Sheet1!$F$2:$F$23</c:f>
              <c:numCache>
                <c:formatCode>General</c:formatCode>
                <c:ptCount val="22"/>
                <c:pt idx="0">
                  <c:v>22.75</c:v>
                </c:pt>
                <c:pt idx="1">
                  <c:v>23.51</c:v>
                </c:pt>
                <c:pt idx="2">
                  <c:v>28.92</c:v>
                </c:pt>
                <c:pt idx="3">
                  <c:v>25.55</c:v>
                </c:pt>
                <c:pt idx="4">
                  <c:v>24.7</c:v>
                </c:pt>
                <c:pt idx="5">
                  <c:v>28.48</c:v>
                </c:pt>
                <c:pt idx="6">
                  <c:v>22.73</c:v>
                </c:pt>
                <c:pt idx="7">
                  <c:v>22.62</c:v>
                </c:pt>
                <c:pt idx="8">
                  <c:v>23.38</c:v>
                </c:pt>
                <c:pt idx="9">
                  <c:v>25.57</c:v>
                </c:pt>
                <c:pt idx="10">
                  <c:v>23.25</c:v>
                </c:pt>
                <c:pt idx="11">
                  <c:v>22.41</c:v>
                </c:pt>
                <c:pt idx="12">
                  <c:v>27.36</c:v>
                </c:pt>
                <c:pt idx="13">
                  <c:v>26.71</c:v>
                </c:pt>
                <c:pt idx="14">
                  <c:v>25.8</c:v>
                </c:pt>
                <c:pt idx="15">
                  <c:v>25.81</c:v>
                </c:pt>
                <c:pt idx="16">
                  <c:v>27.91</c:v>
                </c:pt>
                <c:pt idx="17">
                  <c:v/>
                </c:pt>
                <c:pt idx="18">
                  <c:v/>
                </c:pt>
                <c:pt idx="19">
                  <c:v/>
                </c:pt>
                <c:pt idx="20">
                  <c:v/>
                </c:pt>
                <c:pt idx="21">
                  <c:v/>
                </c:pt>
              </c:numCache>
            </c:numRef>
          </c:yVal>
          <c:smooth val="0"/>
        </c:ser>
        <c:ser>
          <c:idx val="5"/>
          <c:order val="5"/>
          <c:tx>
            <c:strRef>
              <c:f>Sheet1!$G$1</c:f>
              <c:strCache>
                <c:ptCount val="1"/>
                <c:pt idx="0">
                  <c:v>F</c:v>
                </c:pt>
              </c:strCache>
            </c:strRef>
          </c:tx>
          <c:spPr>
            <a:solidFill>
              <a:srgbClr val="D73027"/>
            </a:solidFill>
            <a:ln>
              <a:noFill/>
            </a:ln>
            <a:effectLst/>
          </c:spPr>
          <c:marker>
            <c:symbol val="circle"/>
            <c:size val="6"/>
            <c:spPr>
              <a:solidFill>
                <a:srgbClr val="D73027"/>
              </a:solidFill>
              <a:ln w="9525" cap="flat">
                <a:solidFill>
                  <a:srgbClr val="D73027"/>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Sheet1!$G$2:$G$23</c:f>
              <c:numCache>
                <c:formatCode>General</c:formatCode>
                <c:ptCount val="22"/>
                <c:pt idx="0">
                  <c:v>20.28</c:v>
                </c:pt>
                <c:pt idx="1">
                  <c:v>17.61</c:v>
                </c:pt>
                <c:pt idx="2">
                  <c:v>17.2</c:v>
                </c:pt>
                <c:pt idx="3">
                  <c:v>20.5</c:v>
                </c:pt>
                <c:pt idx="4">
                  <c:v>18.39</c:v>
                </c:pt>
                <c:pt idx="5">
                  <c:v>19.21</c:v>
                </c:pt>
                <c:pt idx="6">
                  <c:v>20.48</c:v>
                </c:pt>
                <c:pt idx="7">
                  <c:v>18.04</c:v>
                </c:pt>
                <c:pt idx="8">
                  <c:v>21.37</c:v>
                </c:pt>
                <c:pt idx="9">
                  <c:v/>
                </c:pt>
                <c:pt idx="10">
                  <c:v/>
                </c:pt>
                <c:pt idx="11">
                  <c:v/>
                </c:pt>
                <c:pt idx="12">
                  <c:v/>
                </c:pt>
                <c:pt idx="13">
                  <c:v/>
                </c:pt>
                <c:pt idx="14">
                  <c:v/>
                </c:pt>
                <c:pt idx="15">
                  <c:v/>
                </c:pt>
                <c:pt idx="16">
                  <c:v/>
                </c:pt>
                <c:pt idx="17">
                  <c:v/>
                </c:pt>
                <c:pt idx="18">
                  <c:v/>
                </c:pt>
                <c:pt idx="19">
                  <c:v/>
                </c:pt>
                <c:pt idx="20">
                  <c:v/>
                </c:pt>
                <c:pt idx="21">
                  <c:v/>
                </c:pt>
              </c:numCache>
            </c:numRef>
          </c:yVal>
          <c:smooth val="0"/>
        </c:ser>
        <c:ser>
          <c:idx val="6"/>
          <c:order val="6"/>
          <c:tx>
            <c:strRef>
              <c:f>Sheet1!$H$1</c:f>
              <c:strCache>
                <c:ptCount val="1"/>
                <c:pt idx="0">
                  <c:v>G</c:v>
                </c:pt>
              </c:strCache>
            </c:strRef>
          </c:tx>
          <c:spPr>
            <a:solidFill>
              <a:srgbClr val="A50026"/>
            </a:solidFill>
            <a:ln>
              <a:noFill/>
            </a:ln>
            <a:effectLst/>
          </c:spPr>
          <c:marker>
            <c:symbol val="circle"/>
            <c:size val="6"/>
            <c:spPr>
              <a:solidFill>
                <a:srgbClr val="A50026"/>
              </a:solidFill>
              <a:ln w="9525" cap="flat">
                <a:solidFill>
                  <a:srgbClr val="A50026"/>
                </a:solidFill>
                <a:prstDash val="solid"/>
                <a:round/>
              </a:ln>
              <a:effectLst/>
            </c:spPr>
          </c:marker>
          <c:xVal>
            <c:numRef>
              <c:f>Sheet1!$A$2:$A$23</c:f>
              <c:numCache>
                <c:formatCode>General</c:formatCode>
                <c:ptCount val="22"/>
                <c:pt idx="0">
                  <c:v>31.4</c:v>
                </c:pt>
                <c:pt idx="1">
                  <c:v>40.1</c:v>
                </c:pt>
                <c:pt idx="2">
                  <c:v>55.4</c:v>
                </c:pt>
                <c:pt idx="3">
                  <c:v>56.4</c:v>
                </c:pt>
                <c:pt idx="4">
                  <c:v>56.5</c:v>
                </c:pt>
                <c:pt idx="5">
                  <c:v>56.7</c:v>
                </c:pt>
                <c:pt idx="6">
                  <c:v>57.7</c:v>
                </c:pt>
                <c:pt idx="7">
                  <c:v>57.9</c:v>
                </c:pt>
                <c:pt idx="8">
                  <c:v>58.3</c:v>
                </c:pt>
                <c:pt idx="9">
                  <c:v>58.8</c:v>
                </c:pt>
                <c:pt idx="10">
                  <c:v>59</c:v>
                </c:pt>
                <c:pt idx="11">
                  <c:v>60.9</c:v>
                </c:pt>
                <c:pt idx="12">
                  <c:v>62</c:v>
                </c:pt>
                <c:pt idx="13">
                  <c:v>62.8</c:v>
                </c:pt>
                <c:pt idx="14">
                  <c:v>63.9</c:v>
                </c:pt>
                <c:pt idx="15">
                  <c:v>65.8</c:v>
                </c:pt>
                <c:pt idx="16">
                  <c:v>71.8</c:v>
                </c:pt>
                <c:pt idx="17">
                  <c:v>73</c:v>
                </c:pt>
                <c:pt idx="18">
                  <c:v>74</c:v>
                </c:pt>
                <c:pt idx="19">
                  <c:v>74.7</c:v>
                </c:pt>
                <c:pt idx="20">
                  <c:v>77.1</c:v>
                </c:pt>
                <c:pt idx="21">
                  <c:v>78.1</c:v>
                </c:pt>
              </c:numCache>
            </c:numRef>
          </c:xVal>
          <c:yVal>
            <c:numRef>
              <c:f>Sheet1!$H$2:$H$23</c:f>
              <c:numCache>
                <c:formatCode>General</c:formatCode>
                <c:ptCount val="22"/>
                <c:pt idx="0">
                  <c:v>9.17</c:v>
                </c:pt>
                <c:pt idx="1">
                  <c:v>12.05</c:v>
                </c:pt>
                <c:pt idx="2">
                  <c:v>11.36</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12700" cap="flat">
              <a:solidFill>
                <a:srgbClr val="D9D9D9"/>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1A1A1A"/>
                </a:solidFill>
                <a:latin typeface="Inter"/>
              </a:defRPr>
            </a:pPr>
            <a:endParaRPr lang="en-US"/>
          </a:p>
        </c:txPr>
        <c:crossAx val="2094734552"/>
        <c:crosses val="autoZero"/>
        <c:auto val="1"/>
        <c:lblAlgn val="ctr"/>
        <c:noMultiLvlLbl val="1"/>
      </c:valAx>
      <c:valAx>
        <c:axId val="2094734552"/>
        <c:scaling>
          <c:orientation val="minMax"/>
        </c:scaling>
        <c:delete val="0"/>
        <c:axPos val="l"/>
        <c:majorGridlines>
          <c:spPr>
            <a:ln w="12700" cap="flat">
              <a:solidFill>
                <a:srgbClr val="D9D9D9"/>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1A1A1A"/>
                </a:solidFill>
                <a:latin typeface="Inter"/>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A1A1A"/>
              </a:solidFill>
              <a:latin typeface="Inter"/>
              <a:cs typeface="Inter"/>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Danmarks Mobilitetsatlas gives every place in Denmark one comparable A–G grade for mobility. Twenty minutes: what the grade measures, how we calculate it, and what it says about your municipality. The map behind me is the 29 municipalities graded E, F or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Denmark has a real public transport backbone. These are counted figures from the Rejseplanen feed, not estimates. But a stop outside your door is not the same as getting to work, school or the doctor. That gap is what the atlas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comparable grade, built from two measured reaches. Public transport quality is how much of everyday life you reach without a car. Transport choice is how much further the car gets you. Their average is mobility freedom, 0 to 100, and that becomes the letter. People remember the letter. The score is the part you can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scale: the three weakest bands step forward. Twenty-nine of the ninety-eight municipalities are graded E, F or G. That is 1.15 million people, about one Dane in five, living where the car is not really a choice. If your municipality is in that group, this is your slide. If it is not, some of your neighbours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by Statistics Denmark's own municipal classification, public transport quality falls from 80 in the capital municipalities to 25 in the rural ones. A factor of 3.2, population-weighted, so this counts people rather than map area. No municipality chose this. It is what density and distance do. It does mean a national average is useless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municipality accepts a letter grade, it wants to know how the letter was produced. Four steps, then the parts we do not yet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75,000 points across all 98 municipalities, roughly every neighbourhood in the country. For each one we compute what is reachable twice, once by public transport and once by car. Over 20 billion journeys in total. Destinations score on a saturating curve, so the tenth supermarket adds less than the first. Click the box at the bottom if anyone asks what is missing. Someone always does, which is why it has its own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one plainly. The two that matter most to a Danish municipality are Flextrafik and the bicycle. Both work against exactly the municipalities that score lowest. Press ← or click anywhere to go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distribution on one slide. The shape is not a bell curve. Denmark is bimodal: a large A group, a large D group, very little in between. Roskilde on the right is the worked example from the method page. 70.7 and 66.3 average to 68.5, which is 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looks like for one municipality. Aarhus as the worked example, then the live site, then street level in København.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Aarhus scores 68.6, a B, twenty-fourth of ninety-eight. Read the two pillars as well as the letter: 70.5 for public transport quality against 66.7 for transport choice. That balance is unusual, and it is good news. Public transport competes with the car here. In most municipalities the second number is far larger than the first, and that gap is the car dependency.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 is live in the slide. Drag it, zoom, toggle the routes and the frequency. Three things to point at: the detailed map with cell-level grades, the five-year trend from Statistics Denmark, and "Ask about mobility", which answers from your own municipal and regional plans with the source documents linked. All of it CC BY-SA: screenshot it, quote it, put it in your own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descriptions come out of the published league table itself, so they cannot drift from the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municipality, one dot, coloured by grade. Horizontally the share of families owning a car, from Statistics Denmark. Vertically mobility freedom. The correlation is minus 0.66 across all 98, and the spread at any given level of car ownership is the interesting part. Say the caveat out loud: a pattern between two numbers is not a cause. Click through for the live version, where the horizontal axis is a dropdown.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as well. The horizontal axis is a dropdown: spending per resident, car ownership, population density, road casualties. The table underneath sorts on both measures. Worth opening in a browser tab when the room starts asking about one specific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zoom level: København, street by street. Press Byvisning on any of the four largest municipalities and the map tilts into the buildings, with the day's scheduled services moving across it. Planned timetable, not live vehicles, and the panel says so. The green wash on the massing is the same A–G scale as the rest of the deck, now at building resolution. This is where a planner stops nodding at a national average and starts pointing at a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to leave on screen during questions. Two of these six are not transport measures at all: housing near destinations, and new destinations. That is the argument for having the planning department in the room when the timetable is discussed. The grade is recomputed each edition, so a change in service shows up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in: look up your own municipality tonight, send us the plans we have missed, or sit down with us and go through your grade cell by cell. The atlas is CC BY-SA. Take it, quote it, put it in your own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970" cy="6858000"/>
          </a:xfrm>
          <a:prstGeom prst="rect">
            <a:avLst/>
          </a:prstGeom>
        </p:spPr>
      </p:pic>
      <p:sp>
        <p:nvSpPr>
          <p:cNvPr id="3" name="Shape 0"/>
          <p:cNvSpPr/>
          <p:nvPr/>
        </p:nvSpPr>
        <p:spPr>
          <a:xfrm>
            <a:off x="0" y="0"/>
            <a:ext cx="12191970" cy="6858000"/>
          </a:xfrm>
          <a:prstGeom prst="rect">
            <a:avLst/>
          </a:prstGeom>
          <a:solidFill>
            <a:srgbClr val="1A1A1A">
              <a:alpha val="62000"/>
            </a:srgbClr>
          </a:solidFill>
          <a:ln/>
        </p:spPr>
      </p:sp>
      <p:sp>
        <p:nvSpPr>
          <p:cNvPr id="4" name="Shape 1"/>
          <p:cNvSpPr/>
          <p:nvPr/>
        </p:nvSpPr>
        <p:spPr>
          <a:xfrm>
            <a:off x="914400" y="2209830"/>
            <a:ext cx="914400" cy="57150"/>
          </a:xfrm>
          <a:prstGeom prst="rect">
            <a:avLst/>
          </a:prstGeom>
          <a:solidFill>
            <a:srgbClr val="4A7C59"/>
          </a:solidFill>
          <a:ln/>
        </p:spPr>
      </p:sp>
      <p:sp>
        <p:nvSpPr>
          <p:cNvPr id="5" name="Text 2"/>
          <p:cNvSpPr/>
          <p:nvPr/>
        </p:nvSpPr>
        <p:spPr>
          <a:xfrm>
            <a:off x="914400" y="2514600"/>
            <a:ext cx="8572500" cy="304770"/>
          </a:xfrm>
          <a:prstGeom prst="rect">
            <a:avLst/>
          </a:prstGeom>
          <a:noFill/>
          <a:ln/>
        </p:spPr>
        <p:txBody>
          <a:bodyPr wrap="square" lIns="0" tIns="0" rIns="0" bIns="0" rtlCol="0" anchor="ctr"/>
          <a:lstStyle/>
          <a:p>
            <a:pPr algn="l" indent="0" marL="0">
              <a:lnSpc>
                <a:spcPct val="130000"/>
              </a:lnSpc>
              <a:buNone/>
            </a:pPr>
            <a:r>
              <a:rPr lang="en-US" sz="1050" spc="150" kern="0" dirty="0">
                <a:solidFill>
                  <a:srgbClr val="999999"/>
                </a:solidFill>
                <a:latin typeface="DM Mono" pitchFamily="34" charset="0"/>
                <a:ea typeface="DM Mono" pitchFamily="34" charset="-122"/>
                <a:cs typeface="DM Mono" pitchFamily="34" charset="-120"/>
              </a:rPr>
              <a:t>AN INTRODUCTION FOR DANISH MUNICIPALITIES</a:t>
            </a:r>
            <a:endParaRPr lang="en-US" sz="1050" dirty="0"/>
          </a:p>
        </p:txBody>
      </p:sp>
      <p:sp>
        <p:nvSpPr>
          <p:cNvPr id="6" name="Text 3"/>
          <p:cNvSpPr/>
          <p:nvPr/>
        </p:nvSpPr>
        <p:spPr>
          <a:xfrm>
            <a:off x="914400" y="2914650"/>
            <a:ext cx="8953530" cy="1714500"/>
          </a:xfrm>
          <a:prstGeom prst="rect">
            <a:avLst/>
          </a:prstGeom>
          <a:noFill/>
          <a:ln/>
        </p:spPr>
        <p:txBody>
          <a:bodyPr wrap="square" lIns="0" tIns="0" rIns="0" bIns="0" rtlCol="0" anchor="t"/>
          <a:lstStyle/>
          <a:p>
            <a:pPr algn="l" indent="0" marL="0">
              <a:lnSpc>
                <a:spcPct val="105000"/>
              </a:lnSpc>
              <a:buNone/>
            </a:pPr>
            <a:r>
              <a:rPr lang="en-US" sz="5400" b="1" dirty="0">
                <a:solidFill>
                  <a:srgbClr val="F5F3EF"/>
                </a:solidFill>
                <a:latin typeface="Playfair Display" pitchFamily="34" charset="0"/>
                <a:ea typeface="Playfair Display" pitchFamily="34" charset="-122"/>
                <a:cs typeface="Playfair Display" pitchFamily="34" charset="-120"/>
              </a:rPr>
              <a:t>Danmarks</a:t>
            </a:r>
            <a:endParaRPr lang="en-US" sz="5400" dirty="0"/>
          </a:p>
          <a:p>
            <a:pPr algn="l" indent="0" marL="0">
              <a:lnSpc>
                <a:spcPct val="105000"/>
              </a:lnSpc>
              <a:buNone/>
            </a:pPr>
            <a:r>
              <a:rPr lang="en-US" sz="5400" b="1" dirty="0">
                <a:solidFill>
                  <a:srgbClr val="F5F3EF"/>
                </a:solidFill>
                <a:latin typeface="Playfair Display" pitchFamily="34" charset="0"/>
                <a:ea typeface="Playfair Display" pitchFamily="34" charset="-122"/>
                <a:cs typeface="Playfair Display" pitchFamily="34" charset="-120"/>
              </a:rPr>
              <a:t>Mobilitetsatlas</a:t>
            </a:r>
            <a:endParaRPr lang="en-US" sz="5400" dirty="0"/>
          </a:p>
        </p:txBody>
      </p:sp>
      <p:sp>
        <p:nvSpPr>
          <p:cNvPr id="7" name="Text 4"/>
          <p:cNvSpPr/>
          <p:nvPr/>
        </p:nvSpPr>
        <p:spPr>
          <a:xfrm>
            <a:off x="914400" y="4762470"/>
            <a:ext cx="7810530" cy="761970"/>
          </a:xfrm>
          <a:prstGeom prst="rect">
            <a:avLst/>
          </a:prstGeom>
          <a:noFill/>
          <a:ln/>
        </p:spPr>
        <p:txBody>
          <a:bodyPr wrap="square" lIns="0" tIns="0" rIns="0" bIns="0" rtlCol="0" anchor="t"/>
          <a:lstStyle/>
          <a:p>
            <a:pPr algn="l" indent="0" marL="0">
              <a:lnSpc>
                <a:spcPct val="140000"/>
              </a:lnSpc>
              <a:buNone/>
            </a:pPr>
            <a:r>
              <a:rPr lang="en-US" sz="1800" dirty="0">
                <a:solidFill>
                  <a:srgbClr val="999999"/>
                </a:solidFill>
                <a:latin typeface="Inter" pitchFamily="34" charset="0"/>
                <a:ea typeface="Inter" pitchFamily="34" charset="-122"/>
                <a:cs typeface="Inter" pitchFamily="34" charset="-120"/>
              </a:rPr>
              <a:t>One comparable A–G grade for how freely people can move, with and without a car.</a:t>
            </a:r>
            <a:endParaRPr lang="en-US" sz="1800" dirty="0"/>
          </a:p>
        </p:txBody>
      </p:sp>
      <p:sp>
        <p:nvSpPr>
          <p:cNvPr id="8" name="Text 5"/>
          <p:cNvSpPr/>
          <p:nvPr/>
        </p:nvSpPr>
        <p:spPr>
          <a:xfrm>
            <a:off x="914400" y="5905470"/>
            <a:ext cx="8572500" cy="266730"/>
          </a:xfrm>
          <a:prstGeom prst="rect">
            <a:avLst/>
          </a:prstGeom>
          <a:noFill/>
          <a:ln/>
        </p:spPr>
        <p:txBody>
          <a:bodyPr wrap="square" lIns="0" tIns="0" rIns="0" bIns="0" rtlCol="0" anchor="ctr"/>
          <a:lstStyle/>
          <a:p>
            <a:pPr algn="l" indent="0" marL="0">
              <a:lnSpc>
                <a:spcPct val="130000"/>
              </a:lnSpc>
              <a:buNone/>
            </a:pPr>
            <a:r>
              <a:rPr lang="en-US" sz="975" dirty="0">
                <a:solidFill>
                  <a:srgbClr val="999999"/>
                </a:solidFill>
                <a:latin typeface="DM Mono" pitchFamily="34" charset="0"/>
                <a:ea typeface="DM Mono" pitchFamily="34" charset="-122"/>
                <a:cs typeface="DM Mono" pitchFamily="34" charset="-120"/>
              </a:rPr>
              <a:t>Beta Mobility · Robert Martin · 9/9/2026</a:t>
            </a:r>
            <a:endParaRPr lang="en-US" sz="97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Denmark has the network. The question is what it reaches.</a:t>
            </a:r>
            <a:endParaRPr lang="en-US" sz="3000" dirty="0"/>
          </a:p>
        </p:txBody>
      </p:sp>
      <p:sp>
        <p:nvSpPr>
          <p:cNvPr id="3" name="Text 1"/>
          <p:cNvSpPr/>
          <p:nvPr/>
        </p:nvSpPr>
        <p:spPr>
          <a:xfrm>
            <a:off x="914400" y="2038380"/>
            <a:ext cx="3238530" cy="914400"/>
          </a:xfrm>
          <a:prstGeom prst="rect">
            <a:avLst/>
          </a:prstGeom>
          <a:noFill/>
          <a:ln/>
        </p:spPr>
        <p:txBody>
          <a:bodyPr wrap="square" lIns="0" tIns="0" rIns="0" bIns="0" rtlCol="0" anchor="t"/>
          <a:lstStyle/>
          <a:p>
            <a:pPr algn="l" indent="0" marL="0">
              <a:lnSpc>
                <a:spcPct val="100000"/>
              </a:lnSpc>
              <a:buNone/>
            </a:pPr>
            <a:r>
              <a:rPr lang="en-US" sz="5700" b="1" dirty="0">
                <a:solidFill>
                  <a:srgbClr val="1A1A1A"/>
                </a:solidFill>
                <a:latin typeface="Playfair Display" pitchFamily="34" charset="0"/>
                <a:ea typeface="Playfair Display" pitchFamily="34" charset="-122"/>
                <a:cs typeface="Playfair Display" pitchFamily="34" charset="-120"/>
              </a:rPr>
              <a:t>36,204</a:t>
            </a:r>
            <a:endParaRPr lang="en-US" sz="5700" dirty="0"/>
          </a:p>
        </p:txBody>
      </p:sp>
      <p:sp>
        <p:nvSpPr>
          <p:cNvPr id="4" name="Text 2"/>
          <p:cNvSpPr/>
          <p:nvPr/>
        </p:nvSpPr>
        <p:spPr>
          <a:xfrm>
            <a:off x="914400" y="297180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stops</a:t>
            </a:r>
            <a:endParaRPr lang="en-US" sz="1200" dirty="0"/>
          </a:p>
        </p:txBody>
      </p:sp>
      <p:sp>
        <p:nvSpPr>
          <p:cNvPr id="5" name="Text 3"/>
          <p:cNvSpPr/>
          <p:nvPr/>
        </p:nvSpPr>
        <p:spPr>
          <a:xfrm>
            <a:off x="4476720" y="2038380"/>
            <a:ext cx="3238530" cy="914400"/>
          </a:xfrm>
          <a:prstGeom prst="rect">
            <a:avLst/>
          </a:prstGeom>
          <a:noFill/>
          <a:ln/>
        </p:spPr>
        <p:txBody>
          <a:bodyPr wrap="square" lIns="0" tIns="0" rIns="0" bIns="0" rtlCol="0" anchor="t"/>
          <a:lstStyle/>
          <a:p>
            <a:pPr algn="l" indent="0" marL="0">
              <a:lnSpc>
                <a:spcPct val="100000"/>
              </a:lnSpc>
              <a:buNone/>
            </a:pPr>
            <a:r>
              <a:rPr lang="en-US" sz="5700" b="1" dirty="0">
                <a:solidFill>
                  <a:srgbClr val="1A1A1A"/>
                </a:solidFill>
                <a:latin typeface="Playfair Display" pitchFamily="34" charset="0"/>
                <a:ea typeface="Playfair Display" pitchFamily="34" charset="-122"/>
                <a:cs typeface="Playfair Display" pitchFamily="34" charset="-120"/>
              </a:rPr>
              <a:t>1,574</a:t>
            </a:r>
            <a:endParaRPr lang="en-US" sz="5700" dirty="0"/>
          </a:p>
        </p:txBody>
      </p:sp>
      <p:sp>
        <p:nvSpPr>
          <p:cNvPr id="6" name="Text 4"/>
          <p:cNvSpPr/>
          <p:nvPr/>
        </p:nvSpPr>
        <p:spPr>
          <a:xfrm>
            <a:off x="4476720" y="297180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routes</a:t>
            </a:r>
            <a:endParaRPr lang="en-US" sz="1200" dirty="0"/>
          </a:p>
        </p:txBody>
      </p:sp>
      <p:sp>
        <p:nvSpPr>
          <p:cNvPr id="7" name="Text 5"/>
          <p:cNvSpPr/>
          <p:nvPr/>
        </p:nvSpPr>
        <p:spPr>
          <a:xfrm>
            <a:off x="8039130" y="2038380"/>
            <a:ext cx="3238530" cy="914400"/>
          </a:xfrm>
          <a:prstGeom prst="rect">
            <a:avLst/>
          </a:prstGeom>
          <a:noFill/>
          <a:ln/>
        </p:spPr>
        <p:txBody>
          <a:bodyPr wrap="square" lIns="0" tIns="0" rIns="0" bIns="0" rtlCol="0" anchor="t"/>
          <a:lstStyle/>
          <a:p>
            <a:pPr algn="l" indent="0" marL="0">
              <a:lnSpc>
                <a:spcPct val="100000"/>
              </a:lnSpc>
              <a:buNone/>
            </a:pPr>
            <a:r>
              <a:rPr lang="en-US" sz="5700" b="1" dirty="0">
                <a:solidFill>
                  <a:srgbClr val="1A1A1A"/>
                </a:solidFill>
                <a:latin typeface="Playfair Display" pitchFamily="34" charset="0"/>
                <a:ea typeface="Playfair Display" pitchFamily="34" charset="-122"/>
                <a:cs typeface="Playfair Display" pitchFamily="34" charset="-120"/>
              </a:rPr>
              <a:t>20</a:t>
            </a:r>
            <a:endParaRPr lang="en-US" sz="5700" dirty="0"/>
          </a:p>
        </p:txBody>
      </p:sp>
      <p:sp>
        <p:nvSpPr>
          <p:cNvPr id="8" name="Text 6"/>
          <p:cNvSpPr/>
          <p:nvPr/>
        </p:nvSpPr>
        <p:spPr>
          <a:xfrm>
            <a:off x="8039130" y="297180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operators</a:t>
            </a:r>
            <a:endParaRPr lang="en-US" sz="1200" dirty="0"/>
          </a:p>
        </p:txBody>
      </p:sp>
      <p:sp>
        <p:nvSpPr>
          <p:cNvPr id="9" name="Shape 7"/>
          <p:cNvSpPr/>
          <p:nvPr/>
        </p:nvSpPr>
        <p:spPr>
          <a:xfrm>
            <a:off x="914400" y="3543300"/>
            <a:ext cx="10363170" cy="9510"/>
          </a:xfrm>
          <a:prstGeom prst="rect">
            <a:avLst/>
          </a:prstGeom>
          <a:solidFill>
            <a:srgbClr val="333333">
              <a:alpha val="20000"/>
            </a:srgbClr>
          </a:solidFill>
          <a:ln/>
        </p:spPr>
      </p:sp>
      <p:sp>
        <p:nvSpPr>
          <p:cNvPr id="10" name="Text 8"/>
          <p:cNvSpPr/>
          <p:nvPr/>
        </p:nvSpPr>
        <p:spPr>
          <a:xfrm>
            <a:off x="914400" y="3886200"/>
            <a:ext cx="5029200" cy="1904970"/>
          </a:xfrm>
          <a:prstGeom prst="rect">
            <a:avLst/>
          </a:prstGeom>
          <a:noFill/>
          <a:ln/>
        </p:spPr>
        <p:txBody>
          <a:bodyPr wrap="square" lIns="0" tIns="0" rIns="0" bIns="0" rtlCol="0" anchor="t"/>
          <a:lstStyle/>
          <a:p>
            <a:pPr algn="l" indent="0" marL="0">
              <a:lnSpc>
                <a:spcPct val="150000"/>
              </a:lnSpc>
              <a:buNone/>
            </a:pPr>
            <a:r>
              <a:rPr lang="en-US" sz="1800" dirty="0">
                <a:solidFill>
                  <a:srgbClr val="1A1A1A"/>
                </a:solidFill>
                <a:latin typeface="Inter" pitchFamily="34" charset="0"/>
                <a:ea typeface="Inter" pitchFamily="34" charset="-122"/>
                <a:cs typeface="Inter" pitchFamily="34" charset="-120"/>
              </a:rPr>
              <a:t>That is the supply side, and it is the number most reports stop at.</a:t>
            </a:r>
            <a:endParaRPr lang="en-US" sz="1800" dirty="0"/>
          </a:p>
        </p:txBody>
      </p:sp>
      <p:sp>
        <p:nvSpPr>
          <p:cNvPr id="11" name="Text 9"/>
          <p:cNvSpPr/>
          <p:nvPr/>
        </p:nvSpPr>
        <p:spPr>
          <a:xfrm>
            <a:off x="6248370" y="3886200"/>
            <a:ext cx="5029200" cy="1904970"/>
          </a:xfrm>
          <a:prstGeom prst="rect">
            <a:avLst/>
          </a:prstGeom>
          <a:noFill/>
          <a:ln/>
        </p:spPr>
        <p:txBody>
          <a:bodyPr wrap="square" lIns="0" tIns="0" rIns="0" bIns="0" rtlCol="0" anchor="t"/>
          <a:lstStyle/>
          <a:p>
            <a:pPr algn="l" indent="0" marL="0">
              <a:lnSpc>
                <a:spcPct val="150000"/>
              </a:lnSpc>
              <a:buNone/>
            </a:pPr>
            <a:r>
              <a:rPr lang="en-US" sz="1650" dirty="0">
                <a:solidFill>
                  <a:srgbClr val="666666"/>
                </a:solidFill>
                <a:latin typeface="Inter" pitchFamily="34" charset="0"/>
                <a:ea typeface="Inter" pitchFamily="34" charset="-122"/>
                <a:cs typeface="Inter" pitchFamily="34" charset="-120"/>
              </a:rPr>
              <a:t>A departure board is not access. What decides whether a car is a choice is how much of everyday life you can reach in a reasonable travel time: work, groceries, school, health, social.</a:t>
            </a:r>
            <a:endParaRPr lang="en-US" sz="1650" dirty="0"/>
          </a:p>
        </p:txBody>
      </p:sp>
      <p:sp>
        <p:nvSpPr>
          <p:cNvPr id="12" name="Text 10"/>
          <p:cNvSpPr/>
          <p:nvPr/>
        </p:nvSpPr>
        <p:spPr>
          <a:xfrm>
            <a:off x="914400" y="567687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Rejseplanen GTFS (CC BY 4.0) · Data as of 2026-09-09</a:t>
            </a:r>
            <a:endParaRPr lang="en-US" sz="975" dirty="0"/>
          </a:p>
        </p:txBody>
      </p:sp>
      <p:sp>
        <p:nvSpPr>
          <p:cNvPr id="13" name="Shape 11"/>
          <p:cNvSpPr/>
          <p:nvPr/>
        </p:nvSpPr>
        <p:spPr>
          <a:xfrm>
            <a:off x="914400" y="6096030"/>
            <a:ext cx="10363170" cy="9510"/>
          </a:xfrm>
          <a:prstGeom prst="rect">
            <a:avLst/>
          </a:prstGeom>
          <a:solidFill>
            <a:srgbClr val="333333">
              <a:alpha val="25000"/>
            </a:srgbClr>
          </a:solidFill>
          <a:ln/>
        </p:spPr>
      </p:sp>
      <p:sp>
        <p:nvSpPr>
          <p:cNvPr id="14" name="Text 12"/>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15" name="Text 13"/>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02</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One comparable grade, A to G</a:t>
            </a:r>
            <a:endParaRPr lang="en-US" sz="3000" dirty="0"/>
          </a:p>
        </p:txBody>
      </p:sp>
      <p:sp>
        <p:nvSpPr>
          <p:cNvPr id="3" name="Text 1"/>
          <p:cNvSpPr/>
          <p:nvPr/>
        </p:nvSpPr>
        <p:spPr>
          <a:xfrm>
            <a:off x="914400" y="1771650"/>
            <a:ext cx="10363170" cy="571500"/>
          </a:xfrm>
          <a:prstGeom prst="rect">
            <a:avLst/>
          </a:prstGeom>
          <a:noFill/>
          <a:ln/>
        </p:spPr>
        <p:txBody>
          <a:bodyPr wrap="square" lIns="0" tIns="0" rIns="0" bIns="0" rtlCol="0" anchor="t"/>
          <a:lstStyle/>
          <a:p>
            <a:pPr algn="l" indent="0" marL="0">
              <a:lnSpc>
                <a:spcPct val="140000"/>
              </a:lnSpc>
              <a:buNone/>
            </a:pPr>
            <a:r>
              <a:rPr lang="en-US" sz="1800" dirty="0">
                <a:solidFill>
                  <a:srgbClr val="666666"/>
                </a:solidFill>
                <a:latin typeface="Inter" pitchFamily="34" charset="0"/>
                <a:ea typeface="Inter" pitchFamily="34" charset="-122"/>
                <a:cs typeface="Inter" pitchFamily="34" charset="-120"/>
              </a:rPr>
              <a:t>Mobility freedom, 0 to 100, for every place in Denmark. Then a letter.</a:t>
            </a:r>
            <a:endParaRPr lang="en-US" sz="1800" dirty="0"/>
          </a:p>
        </p:txBody>
      </p:sp>
      <p:sp>
        <p:nvSpPr>
          <p:cNvPr id="4" name="Shape 2"/>
          <p:cNvSpPr/>
          <p:nvPr/>
        </p:nvSpPr>
        <p:spPr>
          <a:xfrm>
            <a:off x="914400" y="2743200"/>
            <a:ext cx="1409730" cy="723930"/>
          </a:xfrm>
          <a:prstGeom prst="roundRect">
            <a:avLst>
              <a:gd name="adj" fmla="val 5267"/>
            </a:avLst>
          </a:prstGeom>
          <a:solidFill>
            <a:srgbClr val="1A9850"/>
          </a:solidFill>
          <a:ln/>
        </p:spPr>
      </p:sp>
      <p:sp>
        <p:nvSpPr>
          <p:cNvPr id="5" name="Text 3"/>
          <p:cNvSpPr/>
          <p:nvPr/>
        </p:nvSpPr>
        <p:spPr>
          <a:xfrm>
            <a:off x="9144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A</a:t>
            </a:r>
            <a:endParaRPr lang="en-US" sz="1500" dirty="0"/>
          </a:p>
        </p:txBody>
      </p:sp>
      <p:sp>
        <p:nvSpPr>
          <p:cNvPr id="6" name="Shape 4"/>
          <p:cNvSpPr/>
          <p:nvPr/>
        </p:nvSpPr>
        <p:spPr>
          <a:xfrm>
            <a:off x="2400300" y="2743200"/>
            <a:ext cx="1409730" cy="723930"/>
          </a:xfrm>
          <a:prstGeom prst="roundRect">
            <a:avLst>
              <a:gd name="adj" fmla="val 5267"/>
            </a:avLst>
          </a:prstGeom>
          <a:solidFill>
            <a:srgbClr val="66BD63"/>
          </a:solidFill>
          <a:ln/>
        </p:spPr>
      </p:sp>
      <p:sp>
        <p:nvSpPr>
          <p:cNvPr id="7" name="Text 5"/>
          <p:cNvSpPr/>
          <p:nvPr/>
        </p:nvSpPr>
        <p:spPr>
          <a:xfrm>
            <a:off x="24003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B</a:t>
            </a:r>
            <a:endParaRPr lang="en-US" sz="1500" dirty="0"/>
          </a:p>
        </p:txBody>
      </p:sp>
      <p:sp>
        <p:nvSpPr>
          <p:cNvPr id="8" name="Shape 6"/>
          <p:cNvSpPr/>
          <p:nvPr/>
        </p:nvSpPr>
        <p:spPr>
          <a:xfrm>
            <a:off x="3886200" y="2743200"/>
            <a:ext cx="1409730" cy="723930"/>
          </a:xfrm>
          <a:prstGeom prst="roundRect">
            <a:avLst>
              <a:gd name="adj" fmla="val 5267"/>
            </a:avLst>
          </a:prstGeom>
          <a:solidFill>
            <a:srgbClr val="A6D96A"/>
          </a:solidFill>
          <a:ln/>
        </p:spPr>
      </p:sp>
      <p:sp>
        <p:nvSpPr>
          <p:cNvPr id="9" name="Text 7"/>
          <p:cNvSpPr/>
          <p:nvPr/>
        </p:nvSpPr>
        <p:spPr>
          <a:xfrm>
            <a:off x="38862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C</a:t>
            </a:r>
            <a:endParaRPr lang="en-US" sz="1500" dirty="0"/>
          </a:p>
        </p:txBody>
      </p:sp>
      <p:sp>
        <p:nvSpPr>
          <p:cNvPr id="10" name="Shape 8"/>
          <p:cNvSpPr/>
          <p:nvPr/>
        </p:nvSpPr>
        <p:spPr>
          <a:xfrm>
            <a:off x="5372100" y="2743200"/>
            <a:ext cx="1409730" cy="723930"/>
          </a:xfrm>
          <a:prstGeom prst="roundRect">
            <a:avLst>
              <a:gd name="adj" fmla="val 5267"/>
            </a:avLst>
          </a:prstGeom>
          <a:solidFill>
            <a:srgbClr val="FEE08B"/>
          </a:solidFill>
          <a:ln/>
        </p:spPr>
      </p:sp>
      <p:sp>
        <p:nvSpPr>
          <p:cNvPr id="11" name="Text 9"/>
          <p:cNvSpPr/>
          <p:nvPr/>
        </p:nvSpPr>
        <p:spPr>
          <a:xfrm>
            <a:off x="53721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D</a:t>
            </a:r>
            <a:endParaRPr lang="en-US" sz="1500" dirty="0"/>
          </a:p>
        </p:txBody>
      </p:sp>
      <p:sp>
        <p:nvSpPr>
          <p:cNvPr id="12" name="Shape 10"/>
          <p:cNvSpPr/>
          <p:nvPr/>
        </p:nvSpPr>
        <p:spPr>
          <a:xfrm>
            <a:off x="6858000" y="2743200"/>
            <a:ext cx="1409730" cy="723930"/>
          </a:xfrm>
          <a:prstGeom prst="roundRect">
            <a:avLst>
              <a:gd name="adj" fmla="val 5267"/>
            </a:avLst>
          </a:prstGeom>
          <a:solidFill>
            <a:srgbClr val="F46D43"/>
          </a:solidFill>
          <a:ln/>
        </p:spPr>
      </p:sp>
      <p:sp>
        <p:nvSpPr>
          <p:cNvPr id="13" name="Text 11"/>
          <p:cNvSpPr/>
          <p:nvPr/>
        </p:nvSpPr>
        <p:spPr>
          <a:xfrm>
            <a:off x="68580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E</a:t>
            </a:r>
            <a:endParaRPr lang="en-US" sz="1500" dirty="0"/>
          </a:p>
        </p:txBody>
      </p:sp>
      <p:sp>
        <p:nvSpPr>
          <p:cNvPr id="14" name="Shape 12"/>
          <p:cNvSpPr/>
          <p:nvPr/>
        </p:nvSpPr>
        <p:spPr>
          <a:xfrm>
            <a:off x="8343900" y="2743200"/>
            <a:ext cx="1409730" cy="723930"/>
          </a:xfrm>
          <a:prstGeom prst="roundRect">
            <a:avLst>
              <a:gd name="adj" fmla="val 5267"/>
            </a:avLst>
          </a:prstGeom>
          <a:solidFill>
            <a:srgbClr val="D73027"/>
          </a:solidFill>
          <a:ln/>
        </p:spPr>
      </p:sp>
      <p:sp>
        <p:nvSpPr>
          <p:cNvPr id="15" name="Text 13"/>
          <p:cNvSpPr/>
          <p:nvPr/>
        </p:nvSpPr>
        <p:spPr>
          <a:xfrm>
            <a:off x="83439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F5F3EF"/>
                </a:solidFill>
                <a:latin typeface="DM Mono" pitchFamily="34" charset="0"/>
                <a:ea typeface="DM Mono" pitchFamily="34" charset="-122"/>
                <a:cs typeface="DM Mono" pitchFamily="34" charset="-120"/>
              </a:rPr>
              <a:t>F</a:t>
            </a:r>
            <a:endParaRPr lang="en-US" sz="1500" dirty="0"/>
          </a:p>
        </p:txBody>
      </p:sp>
      <p:sp>
        <p:nvSpPr>
          <p:cNvPr id="16" name="Shape 14"/>
          <p:cNvSpPr/>
          <p:nvPr/>
        </p:nvSpPr>
        <p:spPr>
          <a:xfrm>
            <a:off x="9829800" y="2743200"/>
            <a:ext cx="1409730" cy="723930"/>
          </a:xfrm>
          <a:prstGeom prst="roundRect">
            <a:avLst>
              <a:gd name="adj" fmla="val 5267"/>
            </a:avLst>
          </a:prstGeom>
          <a:solidFill>
            <a:srgbClr val="A50026"/>
          </a:solidFill>
          <a:ln/>
        </p:spPr>
      </p:sp>
      <p:sp>
        <p:nvSpPr>
          <p:cNvPr id="17" name="Text 15"/>
          <p:cNvSpPr/>
          <p:nvPr/>
        </p:nvSpPr>
        <p:spPr>
          <a:xfrm>
            <a:off x="9829800" y="2743200"/>
            <a:ext cx="1409730" cy="723930"/>
          </a:xfrm>
          <a:prstGeom prst="rect">
            <a:avLst/>
          </a:prstGeom>
          <a:noFill/>
          <a:ln/>
        </p:spPr>
        <p:txBody>
          <a:bodyPr wrap="square" lIns="0" tIns="0" rIns="0" bIns="0" rtlCol="0" anchor="ctr"/>
          <a:lstStyle/>
          <a:p>
            <a:pPr algn="ctr" indent="0" marL="0">
              <a:lnSpc>
                <a:spcPct val="100000"/>
              </a:lnSpc>
              <a:buNone/>
            </a:pPr>
            <a:r>
              <a:rPr lang="en-US" sz="1500" b="1" dirty="0">
                <a:solidFill>
                  <a:srgbClr val="F5F3EF"/>
                </a:solidFill>
                <a:latin typeface="DM Mono" pitchFamily="34" charset="0"/>
                <a:ea typeface="DM Mono" pitchFamily="34" charset="-122"/>
                <a:cs typeface="DM Mono" pitchFamily="34" charset="-120"/>
              </a:rPr>
              <a:t>G</a:t>
            </a:r>
            <a:endParaRPr lang="en-US" sz="1500" dirty="0"/>
          </a:p>
        </p:txBody>
      </p:sp>
      <p:sp>
        <p:nvSpPr>
          <p:cNvPr id="18" name="Text 16"/>
          <p:cNvSpPr/>
          <p:nvPr/>
        </p:nvSpPr>
        <p:spPr>
          <a:xfrm>
            <a:off x="914400" y="3600450"/>
            <a:ext cx="3810030" cy="266730"/>
          </a:xfrm>
          <a:prstGeom prst="rect">
            <a:avLst/>
          </a:prstGeom>
          <a:noFill/>
          <a:ln/>
        </p:spPr>
        <p:txBody>
          <a:bodyPr wrap="square" lIns="0" tIns="0" rIns="0" bIns="0" rtlCol="0" anchor="t"/>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high mobility freedom</a:t>
            </a:r>
            <a:endParaRPr lang="en-US" sz="1050" dirty="0"/>
          </a:p>
        </p:txBody>
      </p:sp>
      <p:sp>
        <p:nvSpPr>
          <p:cNvPr id="19" name="Text 17"/>
          <p:cNvSpPr/>
          <p:nvPr/>
        </p:nvSpPr>
        <p:spPr>
          <a:xfrm>
            <a:off x="7467630" y="3600450"/>
            <a:ext cx="3810030" cy="266730"/>
          </a:xfrm>
          <a:prstGeom prst="rect">
            <a:avLst/>
          </a:prstGeom>
          <a:noFill/>
          <a:ln/>
        </p:spPr>
        <p:txBody>
          <a:bodyPr wrap="square" lIns="0" tIns="0" rIns="0" bIns="0" rtlCol="0" anchor="t"/>
          <a:lstStyle/>
          <a:p>
            <a:pPr algn="r" indent="0" marL="0">
              <a:lnSpc>
                <a:spcPct val="130000"/>
              </a:lnSpc>
              <a:buNone/>
            </a:pPr>
            <a:r>
              <a:rPr lang="en-US" sz="1050" dirty="0">
                <a:solidFill>
                  <a:srgbClr val="666666"/>
                </a:solidFill>
                <a:latin typeface="DM Mono" pitchFamily="34" charset="0"/>
                <a:ea typeface="DM Mono" pitchFamily="34" charset="-122"/>
                <a:cs typeface="DM Mono" pitchFamily="34" charset="-120"/>
              </a:rPr>
              <a:t>low mobility freedom</a:t>
            </a:r>
            <a:endParaRPr lang="en-US" sz="1050" dirty="0"/>
          </a:p>
        </p:txBody>
      </p:sp>
      <p:sp>
        <p:nvSpPr>
          <p:cNvPr id="20" name="Shape 18"/>
          <p:cNvSpPr/>
          <p:nvPr/>
        </p:nvSpPr>
        <p:spPr>
          <a:xfrm>
            <a:off x="914400" y="4210080"/>
            <a:ext cx="10363170" cy="914400"/>
          </a:xfrm>
          <a:prstGeom prst="roundRect">
            <a:avLst>
              <a:gd name="adj" fmla="val 8330"/>
            </a:avLst>
          </a:prstGeom>
          <a:solidFill>
            <a:srgbClr val="F0EDE8"/>
          </a:solidFill>
          <a:ln/>
        </p:spPr>
      </p:sp>
      <p:sp>
        <p:nvSpPr>
          <p:cNvPr id="21" name="Text 19"/>
          <p:cNvSpPr/>
          <p:nvPr/>
        </p:nvSpPr>
        <p:spPr>
          <a:xfrm>
            <a:off x="1219170" y="4210080"/>
            <a:ext cx="9753630" cy="914400"/>
          </a:xfrm>
          <a:prstGeom prst="rect">
            <a:avLst/>
          </a:prstGeom>
          <a:noFill/>
          <a:ln/>
        </p:spPr>
        <p:txBody>
          <a:bodyPr wrap="square" lIns="0" tIns="0" rIns="0" bIns="0" rtlCol="0" anchor="ctr"/>
          <a:lstStyle/>
          <a:p>
            <a:pPr algn="l" indent="0" marL="0">
              <a:lnSpc>
                <a:spcPct val="140000"/>
              </a:lnSpc>
              <a:buNone/>
            </a:pPr>
            <a:r>
              <a:rPr lang="en-US" sz="1650" dirty="0">
                <a:solidFill>
                  <a:srgbClr val="1A1A1A"/>
                </a:solidFill>
                <a:latin typeface="DM Mono" pitchFamily="34" charset="0"/>
                <a:ea typeface="DM Mono" pitchFamily="34" charset="-122"/>
                <a:cs typeface="DM Mono" pitchFamily="34" charset="-120"/>
              </a:rPr>
              <a:t>mobility freedom  =  ½ public transport quality  +  ½ transport choice</a:t>
            </a:r>
            <a:endParaRPr lang="en-US" sz="1650" dirty="0"/>
          </a:p>
        </p:txBody>
      </p:sp>
      <p:sp>
        <p:nvSpPr>
          <p:cNvPr id="22" name="Text 20"/>
          <p:cNvSpPr/>
          <p:nvPr/>
        </p:nvSpPr>
        <p:spPr>
          <a:xfrm>
            <a:off x="914400" y="542925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Danmarks Mobilitetsatlas · Edition 0.4.0 · 22 August 2026</a:t>
            </a:r>
            <a:endParaRPr lang="en-US" sz="975" dirty="0"/>
          </a:p>
        </p:txBody>
      </p:sp>
      <p:sp>
        <p:nvSpPr>
          <p:cNvPr id="23" name="Shape 21"/>
          <p:cNvSpPr/>
          <p:nvPr/>
        </p:nvSpPr>
        <p:spPr>
          <a:xfrm>
            <a:off x="914400" y="6096030"/>
            <a:ext cx="10363170" cy="9510"/>
          </a:xfrm>
          <a:prstGeom prst="rect">
            <a:avLst/>
          </a:prstGeom>
          <a:solidFill>
            <a:srgbClr val="333333">
              <a:alpha val="25000"/>
            </a:srgbClr>
          </a:solidFill>
          <a:ln/>
        </p:spPr>
      </p:sp>
      <p:sp>
        <p:nvSpPr>
          <p:cNvPr id="24" name="Text 22"/>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25" name="Text 23"/>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03</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Nearly one municipality in three sits in E, F or G</a:t>
            </a:r>
            <a:endParaRPr lang="en-US" sz="3000" dirty="0"/>
          </a:p>
        </p:txBody>
      </p:sp>
      <p:sp>
        <p:nvSpPr>
          <p:cNvPr id="3" name="Shape 1"/>
          <p:cNvSpPr/>
          <p:nvPr/>
        </p:nvSpPr>
        <p:spPr>
          <a:xfrm>
            <a:off x="914400" y="2095530"/>
            <a:ext cx="1409730" cy="457200"/>
          </a:xfrm>
          <a:prstGeom prst="roundRect">
            <a:avLst>
              <a:gd name="adj" fmla="val 8340"/>
            </a:avLst>
          </a:prstGeom>
          <a:solidFill>
            <a:srgbClr val="1A9850">
              <a:alpha val="22000"/>
            </a:srgbClr>
          </a:solidFill>
          <a:ln/>
        </p:spPr>
      </p:sp>
      <p:sp>
        <p:nvSpPr>
          <p:cNvPr id="4" name="Text 2"/>
          <p:cNvSpPr/>
          <p:nvPr/>
        </p:nvSpPr>
        <p:spPr>
          <a:xfrm>
            <a:off x="914400" y="2095530"/>
            <a:ext cx="1409730" cy="457200"/>
          </a:xfrm>
          <a:prstGeom prst="rect">
            <a:avLst/>
          </a:prstGeom>
          <a:noFill/>
          <a:ln/>
        </p:spPr>
        <p:txBody>
          <a:bodyPr wrap="square" lIns="0" tIns="0" rIns="0" bIns="0" rtlCol="0" anchor="ctr"/>
          <a:lstStyle/>
          <a:p>
            <a:pPr algn="ctr" indent="0" marL="0">
              <a:lnSpc>
                <a:spcPct val="100000"/>
              </a:lnSpc>
              <a:buNone/>
            </a:pPr>
            <a:r>
              <a:rPr lang="en-US" sz="825" b="1" dirty="0">
                <a:solidFill>
                  <a:srgbClr val="1A1A1A">
                    <a:alpha val="22000"/>
                  </a:srgbClr>
                </a:solidFill>
                <a:latin typeface="DM Mono" pitchFamily="34" charset="0"/>
                <a:ea typeface="DM Mono" pitchFamily="34" charset="-122"/>
                <a:cs typeface="DM Mono" pitchFamily="34" charset="-120"/>
              </a:rPr>
              <a:t>A</a:t>
            </a:r>
            <a:endParaRPr lang="en-US" sz="825" dirty="0"/>
          </a:p>
        </p:txBody>
      </p:sp>
      <p:sp>
        <p:nvSpPr>
          <p:cNvPr id="5" name="Shape 3"/>
          <p:cNvSpPr/>
          <p:nvPr/>
        </p:nvSpPr>
        <p:spPr>
          <a:xfrm>
            <a:off x="2400300" y="2095530"/>
            <a:ext cx="1409730" cy="457200"/>
          </a:xfrm>
          <a:prstGeom prst="roundRect">
            <a:avLst>
              <a:gd name="adj" fmla="val 8340"/>
            </a:avLst>
          </a:prstGeom>
          <a:solidFill>
            <a:srgbClr val="66BD63">
              <a:alpha val="22000"/>
            </a:srgbClr>
          </a:solidFill>
          <a:ln/>
        </p:spPr>
      </p:sp>
      <p:sp>
        <p:nvSpPr>
          <p:cNvPr id="6" name="Text 4"/>
          <p:cNvSpPr/>
          <p:nvPr/>
        </p:nvSpPr>
        <p:spPr>
          <a:xfrm>
            <a:off x="2400300" y="2095530"/>
            <a:ext cx="1409730" cy="457200"/>
          </a:xfrm>
          <a:prstGeom prst="rect">
            <a:avLst/>
          </a:prstGeom>
          <a:noFill/>
          <a:ln/>
        </p:spPr>
        <p:txBody>
          <a:bodyPr wrap="square" lIns="0" tIns="0" rIns="0" bIns="0" rtlCol="0" anchor="ctr"/>
          <a:lstStyle/>
          <a:p>
            <a:pPr algn="ctr" indent="0" marL="0">
              <a:lnSpc>
                <a:spcPct val="100000"/>
              </a:lnSpc>
              <a:buNone/>
            </a:pPr>
            <a:r>
              <a:rPr lang="en-US" sz="825" b="1" dirty="0">
                <a:solidFill>
                  <a:srgbClr val="1A1A1A">
                    <a:alpha val="22000"/>
                  </a:srgbClr>
                </a:solidFill>
                <a:latin typeface="DM Mono" pitchFamily="34" charset="0"/>
                <a:ea typeface="DM Mono" pitchFamily="34" charset="-122"/>
                <a:cs typeface="DM Mono" pitchFamily="34" charset="-120"/>
              </a:rPr>
              <a:t>B</a:t>
            </a:r>
            <a:endParaRPr lang="en-US" sz="825" dirty="0"/>
          </a:p>
        </p:txBody>
      </p:sp>
      <p:sp>
        <p:nvSpPr>
          <p:cNvPr id="7" name="Shape 5"/>
          <p:cNvSpPr/>
          <p:nvPr/>
        </p:nvSpPr>
        <p:spPr>
          <a:xfrm>
            <a:off x="3886200" y="2095530"/>
            <a:ext cx="1409730" cy="457200"/>
          </a:xfrm>
          <a:prstGeom prst="roundRect">
            <a:avLst>
              <a:gd name="adj" fmla="val 8340"/>
            </a:avLst>
          </a:prstGeom>
          <a:solidFill>
            <a:srgbClr val="A6D96A">
              <a:alpha val="22000"/>
            </a:srgbClr>
          </a:solidFill>
          <a:ln/>
        </p:spPr>
      </p:sp>
      <p:sp>
        <p:nvSpPr>
          <p:cNvPr id="8" name="Text 6"/>
          <p:cNvSpPr/>
          <p:nvPr/>
        </p:nvSpPr>
        <p:spPr>
          <a:xfrm>
            <a:off x="3886200" y="2095530"/>
            <a:ext cx="1409730" cy="457200"/>
          </a:xfrm>
          <a:prstGeom prst="rect">
            <a:avLst/>
          </a:prstGeom>
          <a:noFill/>
          <a:ln/>
        </p:spPr>
        <p:txBody>
          <a:bodyPr wrap="square" lIns="0" tIns="0" rIns="0" bIns="0" rtlCol="0" anchor="ctr"/>
          <a:lstStyle/>
          <a:p>
            <a:pPr algn="ctr" indent="0" marL="0">
              <a:lnSpc>
                <a:spcPct val="100000"/>
              </a:lnSpc>
              <a:buNone/>
            </a:pPr>
            <a:r>
              <a:rPr lang="en-US" sz="825" b="1" dirty="0">
                <a:solidFill>
                  <a:srgbClr val="1A1A1A">
                    <a:alpha val="22000"/>
                  </a:srgbClr>
                </a:solidFill>
                <a:latin typeface="DM Mono" pitchFamily="34" charset="0"/>
                <a:ea typeface="DM Mono" pitchFamily="34" charset="-122"/>
                <a:cs typeface="DM Mono" pitchFamily="34" charset="-120"/>
              </a:rPr>
              <a:t>C</a:t>
            </a:r>
            <a:endParaRPr lang="en-US" sz="825" dirty="0"/>
          </a:p>
        </p:txBody>
      </p:sp>
      <p:sp>
        <p:nvSpPr>
          <p:cNvPr id="9" name="Shape 7"/>
          <p:cNvSpPr/>
          <p:nvPr/>
        </p:nvSpPr>
        <p:spPr>
          <a:xfrm>
            <a:off x="5372100" y="2095530"/>
            <a:ext cx="1409730" cy="457200"/>
          </a:xfrm>
          <a:prstGeom prst="roundRect">
            <a:avLst>
              <a:gd name="adj" fmla="val 8340"/>
            </a:avLst>
          </a:prstGeom>
          <a:solidFill>
            <a:srgbClr val="FEE08B">
              <a:alpha val="22000"/>
            </a:srgbClr>
          </a:solidFill>
          <a:ln/>
        </p:spPr>
      </p:sp>
      <p:sp>
        <p:nvSpPr>
          <p:cNvPr id="10" name="Text 8"/>
          <p:cNvSpPr/>
          <p:nvPr/>
        </p:nvSpPr>
        <p:spPr>
          <a:xfrm>
            <a:off x="5372100" y="2095530"/>
            <a:ext cx="1409730" cy="457200"/>
          </a:xfrm>
          <a:prstGeom prst="rect">
            <a:avLst/>
          </a:prstGeom>
          <a:noFill/>
          <a:ln/>
        </p:spPr>
        <p:txBody>
          <a:bodyPr wrap="square" lIns="0" tIns="0" rIns="0" bIns="0" rtlCol="0" anchor="ctr"/>
          <a:lstStyle/>
          <a:p>
            <a:pPr algn="ctr" indent="0" marL="0">
              <a:lnSpc>
                <a:spcPct val="100000"/>
              </a:lnSpc>
              <a:buNone/>
            </a:pPr>
            <a:r>
              <a:rPr lang="en-US" sz="825" b="1" dirty="0">
                <a:solidFill>
                  <a:srgbClr val="1A1A1A">
                    <a:alpha val="22000"/>
                  </a:srgbClr>
                </a:solidFill>
                <a:latin typeface="DM Mono" pitchFamily="34" charset="0"/>
                <a:ea typeface="DM Mono" pitchFamily="34" charset="-122"/>
                <a:cs typeface="DM Mono" pitchFamily="34" charset="-120"/>
              </a:rPr>
              <a:t>D</a:t>
            </a:r>
            <a:endParaRPr lang="en-US" sz="825" dirty="0"/>
          </a:p>
        </p:txBody>
      </p:sp>
      <p:sp>
        <p:nvSpPr>
          <p:cNvPr id="11" name="Shape 9"/>
          <p:cNvSpPr/>
          <p:nvPr/>
        </p:nvSpPr>
        <p:spPr>
          <a:xfrm>
            <a:off x="6858000" y="1904970"/>
            <a:ext cx="1409730" cy="838230"/>
          </a:xfrm>
          <a:prstGeom prst="roundRect">
            <a:avLst>
              <a:gd name="adj" fmla="val 4549"/>
            </a:avLst>
          </a:prstGeom>
          <a:solidFill>
            <a:srgbClr val="F46D43"/>
          </a:solidFill>
          <a:ln/>
        </p:spPr>
      </p:sp>
      <p:sp>
        <p:nvSpPr>
          <p:cNvPr id="12" name="Text 10"/>
          <p:cNvSpPr/>
          <p:nvPr/>
        </p:nvSpPr>
        <p:spPr>
          <a:xfrm>
            <a:off x="6858000" y="1904970"/>
            <a:ext cx="1409730" cy="838230"/>
          </a:xfrm>
          <a:prstGeom prst="rect">
            <a:avLst/>
          </a:prstGeom>
          <a:noFill/>
          <a:ln/>
        </p:spPr>
        <p:txBody>
          <a:bodyPr wrap="square" lIns="0" tIns="0" rIns="0" bIns="0" rtlCol="0" anchor="ctr"/>
          <a:lstStyle/>
          <a:p>
            <a:pPr algn="ctr" indent="0" marL="0">
              <a:lnSpc>
                <a:spcPct val="100000"/>
              </a:lnSpc>
              <a:buNone/>
            </a:pPr>
            <a:r>
              <a:rPr lang="en-US" sz="1500" b="1" dirty="0">
                <a:solidFill>
                  <a:srgbClr val="1A1A1A"/>
                </a:solidFill>
                <a:latin typeface="DM Mono" pitchFamily="34" charset="0"/>
                <a:ea typeface="DM Mono" pitchFamily="34" charset="-122"/>
                <a:cs typeface="DM Mono" pitchFamily="34" charset="-120"/>
              </a:rPr>
              <a:t>E</a:t>
            </a:r>
            <a:endParaRPr lang="en-US" sz="1500" dirty="0"/>
          </a:p>
        </p:txBody>
      </p:sp>
      <p:sp>
        <p:nvSpPr>
          <p:cNvPr id="13" name="Shape 11"/>
          <p:cNvSpPr/>
          <p:nvPr/>
        </p:nvSpPr>
        <p:spPr>
          <a:xfrm>
            <a:off x="8343900" y="1904970"/>
            <a:ext cx="1409730" cy="838230"/>
          </a:xfrm>
          <a:prstGeom prst="roundRect">
            <a:avLst>
              <a:gd name="adj" fmla="val 4549"/>
            </a:avLst>
          </a:prstGeom>
          <a:solidFill>
            <a:srgbClr val="D73027"/>
          </a:solidFill>
          <a:ln/>
        </p:spPr>
      </p:sp>
      <p:sp>
        <p:nvSpPr>
          <p:cNvPr id="14" name="Text 12"/>
          <p:cNvSpPr/>
          <p:nvPr/>
        </p:nvSpPr>
        <p:spPr>
          <a:xfrm>
            <a:off x="8343900" y="1904970"/>
            <a:ext cx="1409730" cy="838230"/>
          </a:xfrm>
          <a:prstGeom prst="rect">
            <a:avLst/>
          </a:prstGeom>
          <a:noFill/>
          <a:ln/>
        </p:spPr>
        <p:txBody>
          <a:bodyPr wrap="square" lIns="0" tIns="0" rIns="0" bIns="0" rtlCol="0" anchor="ctr"/>
          <a:lstStyle/>
          <a:p>
            <a:pPr algn="ctr" indent="0" marL="0">
              <a:lnSpc>
                <a:spcPct val="100000"/>
              </a:lnSpc>
              <a:buNone/>
            </a:pPr>
            <a:r>
              <a:rPr lang="en-US" sz="1500" b="1" dirty="0">
                <a:solidFill>
                  <a:srgbClr val="F5F3EF"/>
                </a:solidFill>
                <a:latin typeface="DM Mono" pitchFamily="34" charset="0"/>
                <a:ea typeface="DM Mono" pitchFamily="34" charset="-122"/>
                <a:cs typeface="DM Mono" pitchFamily="34" charset="-120"/>
              </a:rPr>
              <a:t>F</a:t>
            </a:r>
            <a:endParaRPr lang="en-US" sz="1500" dirty="0"/>
          </a:p>
        </p:txBody>
      </p:sp>
      <p:sp>
        <p:nvSpPr>
          <p:cNvPr id="15" name="Shape 13"/>
          <p:cNvSpPr/>
          <p:nvPr/>
        </p:nvSpPr>
        <p:spPr>
          <a:xfrm>
            <a:off x="9829800" y="1904970"/>
            <a:ext cx="1409730" cy="838230"/>
          </a:xfrm>
          <a:prstGeom prst="roundRect">
            <a:avLst>
              <a:gd name="adj" fmla="val 4549"/>
            </a:avLst>
          </a:prstGeom>
          <a:solidFill>
            <a:srgbClr val="A50026"/>
          </a:solidFill>
          <a:ln/>
        </p:spPr>
      </p:sp>
      <p:sp>
        <p:nvSpPr>
          <p:cNvPr id="16" name="Text 14"/>
          <p:cNvSpPr/>
          <p:nvPr/>
        </p:nvSpPr>
        <p:spPr>
          <a:xfrm>
            <a:off x="9829800" y="1904970"/>
            <a:ext cx="1409730" cy="838230"/>
          </a:xfrm>
          <a:prstGeom prst="rect">
            <a:avLst/>
          </a:prstGeom>
          <a:noFill/>
          <a:ln/>
        </p:spPr>
        <p:txBody>
          <a:bodyPr wrap="square" lIns="0" tIns="0" rIns="0" bIns="0" rtlCol="0" anchor="ctr"/>
          <a:lstStyle/>
          <a:p>
            <a:pPr algn="ctr" indent="0" marL="0">
              <a:lnSpc>
                <a:spcPct val="100000"/>
              </a:lnSpc>
              <a:buNone/>
            </a:pPr>
            <a:r>
              <a:rPr lang="en-US" sz="1500" b="1" dirty="0">
                <a:solidFill>
                  <a:srgbClr val="F5F3EF"/>
                </a:solidFill>
                <a:latin typeface="DM Mono" pitchFamily="34" charset="0"/>
                <a:ea typeface="DM Mono" pitchFamily="34" charset="-122"/>
                <a:cs typeface="DM Mono" pitchFamily="34" charset="-120"/>
              </a:rPr>
              <a:t>G</a:t>
            </a:r>
            <a:endParaRPr lang="en-US" sz="1500" dirty="0"/>
          </a:p>
        </p:txBody>
      </p:sp>
      <p:sp>
        <p:nvSpPr>
          <p:cNvPr id="17" name="Text 15"/>
          <p:cNvSpPr/>
          <p:nvPr/>
        </p:nvSpPr>
        <p:spPr>
          <a:xfrm>
            <a:off x="914400" y="3276570"/>
            <a:ext cx="3238530" cy="876270"/>
          </a:xfrm>
          <a:prstGeom prst="rect">
            <a:avLst/>
          </a:prstGeom>
          <a:noFill/>
          <a:ln/>
        </p:spPr>
        <p:txBody>
          <a:bodyPr wrap="square" lIns="0" tIns="0" rIns="0" bIns="0" rtlCol="0" anchor="t"/>
          <a:lstStyle/>
          <a:p>
            <a:pPr algn="l" indent="0" marL="0">
              <a:lnSpc>
                <a:spcPct val="100000"/>
              </a:lnSpc>
              <a:buNone/>
            </a:pPr>
            <a:r>
              <a:rPr lang="en-US" sz="5400" b="1" dirty="0">
                <a:solidFill>
                  <a:srgbClr val="1A1A1A"/>
                </a:solidFill>
                <a:latin typeface="Playfair Display" pitchFamily="34" charset="0"/>
                <a:ea typeface="Playfair Display" pitchFamily="34" charset="-122"/>
                <a:cs typeface="Playfair Display" pitchFamily="34" charset="-120"/>
              </a:rPr>
              <a:t>29</a:t>
            </a:r>
            <a:endParaRPr lang="en-US" sz="5400" dirty="0"/>
          </a:p>
        </p:txBody>
      </p:sp>
      <p:sp>
        <p:nvSpPr>
          <p:cNvPr id="18" name="Text 16"/>
          <p:cNvSpPr/>
          <p:nvPr/>
        </p:nvSpPr>
        <p:spPr>
          <a:xfrm>
            <a:off x="914400" y="417195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of 98 municipalities</a:t>
            </a:r>
            <a:endParaRPr lang="en-US" sz="1200" dirty="0"/>
          </a:p>
        </p:txBody>
      </p:sp>
      <p:sp>
        <p:nvSpPr>
          <p:cNvPr id="19" name="Text 17"/>
          <p:cNvSpPr/>
          <p:nvPr/>
        </p:nvSpPr>
        <p:spPr>
          <a:xfrm>
            <a:off x="4476720" y="3276570"/>
            <a:ext cx="3238530" cy="876270"/>
          </a:xfrm>
          <a:prstGeom prst="rect">
            <a:avLst/>
          </a:prstGeom>
          <a:noFill/>
          <a:ln/>
        </p:spPr>
        <p:txBody>
          <a:bodyPr wrap="square" lIns="0" tIns="0" rIns="0" bIns="0" rtlCol="0" anchor="t"/>
          <a:lstStyle/>
          <a:p>
            <a:pPr algn="l" indent="0" marL="0">
              <a:lnSpc>
                <a:spcPct val="100000"/>
              </a:lnSpc>
              <a:buNone/>
            </a:pPr>
            <a:r>
              <a:rPr lang="en-US" sz="5400" b="1" dirty="0">
                <a:solidFill>
                  <a:srgbClr val="1A1A1A"/>
                </a:solidFill>
                <a:latin typeface="Playfair Display" pitchFamily="34" charset="0"/>
                <a:ea typeface="Playfair Display" pitchFamily="34" charset="-122"/>
                <a:cs typeface="Playfair Display" pitchFamily="34" charset="-120"/>
              </a:rPr>
              <a:t>1.15</a:t>
            </a:r>
            <a:endParaRPr lang="en-US" sz="5400" dirty="0"/>
          </a:p>
        </p:txBody>
      </p:sp>
      <p:sp>
        <p:nvSpPr>
          <p:cNvPr id="20" name="Text 18"/>
          <p:cNvSpPr/>
          <p:nvPr/>
        </p:nvSpPr>
        <p:spPr>
          <a:xfrm>
            <a:off x="4476720" y="417195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million people</a:t>
            </a:r>
            <a:endParaRPr lang="en-US" sz="1200" dirty="0"/>
          </a:p>
        </p:txBody>
      </p:sp>
      <p:sp>
        <p:nvSpPr>
          <p:cNvPr id="21" name="Text 19"/>
          <p:cNvSpPr/>
          <p:nvPr/>
        </p:nvSpPr>
        <p:spPr>
          <a:xfrm>
            <a:off x="8039130" y="3276570"/>
            <a:ext cx="3238530" cy="876270"/>
          </a:xfrm>
          <a:prstGeom prst="rect">
            <a:avLst/>
          </a:prstGeom>
          <a:noFill/>
          <a:ln/>
        </p:spPr>
        <p:txBody>
          <a:bodyPr wrap="square" lIns="0" tIns="0" rIns="0" bIns="0" rtlCol="0" anchor="t"/>
          <a:lstStyle/>
          <a:p>
            <a:pPr algn="l" indent="0" marL="0">
              <a:lnSpc>
                <a:spcPct val="100000"/>
              </a:lnSpc>
              <a:buNone/>
            </a:pPr>
            <a:r>
              <a:rPr lang="en-US" sz="5400" b="1" dirty="0">
                <a:solidFill>
                  <a:srgbClr val="1A1A1A"/>
                </a:solidFill>
                <a:latin typeface="Playfair Display" pitchFamily="34" charset="0"/>
                <a:ea typeface="Playfair Display" pitchFamily="34" charset="-122"/>
                <a:cs typeface="Playfair Display" pitchFamily="34" charset="-120"/>
              </a:rPr>
              <a:t>19</a:t>
            </a:r>
            <a:endParaRPr lang="en-US" sz="5400" dirty="0"/>
          </a:p>
        </p:txBody>
      </p:sp>
      <p:sp>
        <p:nvSpPr>
          <p:cNvPr id="22" name="Text 20"/>
          <p:cNvSpPr/>
          <p:nvPr/>
        </p:nvSpPr>
        <p:spPr>
          <a:xfrm>
            <a:off x="8039130" y="4171950"/>
            <a:ext cx="323853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per cent of the population</a:t>
            </a:r>
            <a:endParaRPr lang="en-US" sz="1200" dirty="0"/>
          </a:p>
        </p:txBody>
      </p:sp>
      <p:sp>
        <p:nvSpPr>
          <p:cNvPr id="23" name="Text 21"/>
          <p:cNvSpPr/>
          <p:nvPr/>
        </p:nvSpPr>
        <p:spPr>
          <a:xfrm>
            <a:off x="914400" y="4686300"/>
            <a:ext cx="10363170" cy="723930"/>
          </a:xfrm>
          <a:prstGeom prst="rect">
            <a:avLst/>
          </a:prstGeom>
          <a:noFill/>
          <a:ln/>
        </p:spPr>
        <p:txBody>
          <a:bodyPr wrap="square" lIns="0" tIns="0" rIns="0" bIns="0" rtlCol="0" anchor="t"/>
          <a:lstStyle/>
          <a:p>
            <a:pPr algn="l" indent="0" marL="0">
              <a:lnSpc>
                <a:spcPct val="150000"/>
              </a:lnSpc>
              <a:buNone/>
            </a:pPr>
            <a:r>
              <a:rPr lang="en-US" sz="1650" dirty="0">
                <a:solidFill>
                  <a:srgbClr val="666666"/>
                </a:solidFill>
                <a:latin typeface="Inter" pitchFamily="34" charset="0"/>
                <a:ea typeface="Inter" pitchFamily="34" charset="-122"/>
                <a:cs typeface="Inter" pitchFamily="34" charset="-120"/>
              </a:rPr>
              <a:t>In the lowest bands, walking and public transport cover only a small part of everyday life. The car is in practice necessary, including for the people who cannot drive.</a:t>
            </a:r>
            <a:endParaRPr lang="en-US" sz="1650" dirty="0"/>
          </a:p>
        </p:txBody>
      </p:sp>
      <p:sp>
        <p:nvSpPr>
          <p:cNvPr id="24" name="Text 22"/>
          <p:cNvSpPr/>
          <p:nvPr/>
        </p:nvSpPr>
        <p:spPr>
          <a:xfrm>
            <a:off x="914400" y="558168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league table, Edition 0.4.0 · 22 August 2026 · Data as of 2026-09-09</a:t>
            </a:r>
            <a:endParaRPr lang="en-US" sz="975" dirty="0"/>
          </a:p>
        </p:txBody>
      </p:sp>
      <p:sp>
        <p:nvSpPr>
          <p:cNvPr id="25" name="Shape 23"/>
          <p:cNvSpPr/>
          <p:nvPr/>
        </p:nvSpPr>
        <p:spPr>
          <a:xfrm>
            <a:off x="914400" y="6096030"/>
            <a:ext cx="10363170" cy="9510"/>
          </a:xfrm>
          <a:prstGeom prst="rect">
            <a:avLst/>
          </a:prstGeom>
          <a:solidFill>
            <a:srgbClr val="333333">
              <a:alpha val="25000"/>
            </a:srgbClr>
          </a:solidFill>
          <a:ln/>
        </p:spPr>
      </p:sp>
      <p:sp>
        <p:nvSpPr>
          <p:cNvPr id="26" name="Text 24"/>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27" name="Text 25"/>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04</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Five kinds of municipality, five kinds of service</a:t>
            </a:r>
            <a:endParaRPr lang="en-US" sz="3000" dirty="0"/>
          </a:p>
        </p:txBody>
      </p:sp>
      <p:graphicFrame>
        <p:nvGraphicFramePr>
          <p:cNvPr id="3" name="Chart 0" descr=""/>
          <p:cNvGraphicFramePr/>
          <p:nvPr/>
        </p:nvGraphicFramePr>
        <p:xfrm>
          <a:off x="914400" y="1904970"/>
          <a:ext cx="5943600" cy="373377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914400" y="5676870"/>
            <a:ext cx="5943600" cy="247620"/>
          </a:xfrm>
          <a:prstGeom prst="rect">
            <a:avLst/>
          </a:prstGeom>
          <a:noFill/>
          <a:ln/>
        </p:spPr>
        <p:txBody>
          <a:bodyPr wrap="square" lIns="0" tIns="0" rIns="0" bIns="0" rtlCol="0" anchor="t"/>
          <a:lstStyle/>
          <a:p>
            <a:pPr algn="ctr" indent="0" marL="0">
              <a:lnSpc>
                <a:spcPct val="120000"/>
              </a:lnSpc>
              <a:buNone/>
            </a:pPr>
            <a:r>
              <a:rPr lang="en-US" sz="900" dirty="0">
                <a:solidFill>
                  <a:srgbClr val="666666"/>
                </a:solidFill>
                <a:latin typeface="DM Mono" pitchFamily="34" charset="0"/>
                <a:ea typeface="DM Mono" pitchFamily="34" charset="-122"/>
                <a:cs typeface="DM Mono" pitchFamily="34" charset="-120"/>
              </a:rPr>
              <a:t>Public transport quality, 0–100 · population-weighted</a:t>
            </a:r>
            <a:endParaRPr lang="en-US" sz="900" dirty="0"/>
          </a:p>
        </p:txBody>
      </p:sp>
      <p:sp>
        <p:nvSpPr>
          <p:cNvPr id="5" name="Text 2"/>
          <p:cNvSpPr/>
          <p:nvPr/>
        </p:nvSpPr>
        <p:spPr>
          <a:xfrm>
            <a:off x="7162770" y="1904970"/>
            <a:ext cx="4114800" cy="2857500"/>
          </a:xfrm>
          <a:prstGeom prst="rect">
            <a:avLst/>
          </a:prstGeom>
          <a:noFill/>
          <a:ln/>
        </p:spPr>
        <p:txBody>
          <a:bodyPr wrap="square" lIns="0" tIns="0" rIns="0" bIns="0" rtlCol="0" anchor="t"/>
          <a:lstStyle/>
          <a:p>
            <a:pPr algn="l" indent="0" marL="0">
              <a:lnSpc>
                <a:spcPct val="155000"/>
              </a:lnSpc>
              <a:buNone/>
            </a:pPr>
            <a:r>
              <a:rPr lang="en-US" sz="1575" dirty="0">
                <a:solidFill>
                  <a:srgbClr val="1A1A1A"/>
                </a:solidFill>
                <a:latin typeface="Inter" pitchFamily="34" charset="0"/>
                <a:ea typeface="Inter" pitchFamily="34" charset="-122"/>
                <a:cs typeface="Inter" pitchFamily="34" charset="-120"/>
              </a:rPr>
              <a:t>Public transport quality, population-weighted, by Statistics Denmark's municipal grouping.</a:t>
            </a:r>
            <a:endParaRPr lang="en-US" sz="1575" dirty="0"/>
          </a:p>
          <a:p>
            <a:pPr algn="l" indent="0" marL="0">
              <a:lnSpc>
                <a:spcPct val="155000"/>
              </a:lnSpc>
              <a:buNone/>
            </a:pPr>
            <a:r>
              <a:rPr lang="en-US" sz="1575" dirty="0">
                <a:solidFill>
                  <a:srgbClr val="1A1A1A"/>
                </a:solidFill>
                <a:latin typeface="Inter" pitchFamily="34" charset="0"/>
                <a:ea typeface="Inter" pitchFamily="34" charset="-122"/>
                <a:cs typeface="Inter" pitchFamily="34" charset="-120"/>
              </a:rPr>
              <a:t>The capital municipalities score 80.1. The rural municipalities score 25.2. A difference of 3.2 times.</a:t>
            </a:r>
            <a:endParaRPr lang="en-US" sz="1575" dirty="0"/>
          </a:p>
        </p:txBody>
      </p:sp>
      <p:sp>
        <p:nvSpPr>
          <p:cNvPr id="6" name="Shape 3"/>
          <p:cNvSpPr/>
          <p:nvPr/>
        </p:nvSpPr>
        <p:spPr>
          <a:xfrm>
            <a:off x="7162770" y="4953030"/>
            <a:ext cx="4114800" cy="609630"/>
          </a:xfrm>
          <a:prstGeom prst="roundRect">
            <a:avLst>
              <a:gd name="adj" fmla="val 12494"/>
            </a:avLst>
          </a:prstGeom>
          <a:solidFill>
            <a:srgbClr val="F0EDE8"/>
          </a:solidFill>
          <a:ln/>
        </p:spPr>
      </p:sp>
      <p:sp>
        <p:nvSpPr>
          <p:cNvPr id="7" name="Text 4"/>
          <p:cNvSpPr/>
          <p:nvPr/>
        </p:nvSpPr>
        <p:spPr>
          <a:xfrm>
            <a:off x="7391370" y="4953030"/>
            <a:ext cx="3657600" cy="609630"/>
          </a:xfrm>
          <a:prstGeom prst="rect">
            <a:avLst/>
          </a:prstGeom>
          <a:noFill/>
          <a:ln/>
        </p:spPr>
        <p:txBody>
          <a:bodyPr wrap="square" lIns="0" tIns="0" rIns="0" bIns="0" rtlCol="0" anchor="ctr"/>
          <a:lstStyle/>
          <a:p>
            <a:pPr algn="l" indent="0" marL="0">
              <a:lnSpc>
                <a:spcPct val="135000"/>
              </a:lnSpc>
              <a:buNone/>
            </a:pPr>
            <a:r>
              <a:rPr lang="en-US" sz="1350" b="1" dirty="0">
                <a:solidFill>
                  <a:srgbClr val="1A1A1A"/>
                </a:solidFill>
                <a:latin typeface="Inter" pitchFamily="34" charset="0"/>
                <a:ea typeface="Inter" pitchFamily="34" charset="-122"/>
                <a:cs typeface="Inter" pitchFamily="34" charset="-120"/>
              </a:rPr>
              <a:t>A national average describes no municipality.</a:t>
            </a:r>
            <a:endParaRPr lang="en-US" sz="1350" dirty="0"/>
          </a:p>
        </p:txBody>
      </p:sp>
      <p:sp>
        <p:nvSpPr>
          <p:cNvPr id="8" name="Text 5"/>
          <p:cNvSpPr/>
          <p:nvPr/>
        </p:nvSpPr>
        <p:spPr>
          <a:xfrm>
            <a:off x="7162770" y="5676870"/>
            <a:ext cx="411480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DST grouping 2018 · Edition 0.4.0 · 22 August 2026</a:t>
            </a:r>
            <a:endParaRPr lang="en-US" sz="975" dirty="0"/>
          </a:p>
        </p:txBody>
      </p:sp>
      <p:sp>
        <p:nvSpPr>
          <p:cNvPr id="9" name="Shape 6"/>
          <p:cNvSpPr/>
          <p:nvPr/>
        </p:nvSpPr>
        <p:spPr>
          <a:xfrm>
            <a:off x="914400" y="6096030"/>
            <a:ext cx="10363170" cy="9510"/>
          </a:xfrm>
          <a:prstGeom prst="rect">
            <a:avLst/>
          </a:prstGeom>
          <a:solidFill>
            <a:srgbClr val="333333">
              <a:alpha val="25000"/>
            </a:srgbClr>
          </a:solidFill>
          <a:ln/>
        </p:spPr>
      </p:sp>
      <p:sp>
        <p:nvSpPr>
          <p:cNvPr id="10" name="Text 7"/>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11" name="Text 8"/>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05</a:t>
            </a:r>
            <a:endParaRPr lang="en-US" sz="9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914400" y="2590770"/>
            <a:ext cx="6096030" cy="304770"/>
          </a:xfrm>
          <a:prstGeom prst="rect">
            <a:avLst/>
          </a:prstGeom>
          <a:noFill/>
          <a:ln/>
        </p:spPr>
        <p:txBody>
          <a:bodyPr wrap="square" lIns="0" tIns="0" rIns="0" bIns="0" rtlCol="0" anchor="ctr"/>
          <a:lstStyle/>
          <a:p>
            <a:pPr algn="l" indent="0" marL="0">
              <a:lnSpc>
                <a:spcPct val="130000"/>
              </a:lnSpc>
              <a:buNone/>
            </a:pPr>
            <a:r>
              <a:rPr lang="en-US" sz="1050" spc="150" kern="0" dirty="0">
                <a:solidFill>
                  <a:srgbClr val="40916C"/>
                </a:solidFill>
                <a:latin typeface="DM Mono" pitchFamily="34" charset="0"/>
                <a:ea typeface="DM Mono" pitchFamily="34" charset="-122"/>
                <a:cs typeface="DM Mono" pitchFamily="34" charset="-120"/>
              </a:rPr>
              <a:t>PART 2</a:t>
            </a:r>
            <a:endParaRPr lang="en-US" sz="1050" dirty="0"/>
          </a:p>
        </p:txBody>
      </p:sp>
      <p:sp>
        <p:nvSpPr>
          <p:cNvPr id="3" name="Text 1"/>
          <p:cNvSpPr/>
          <p:nvPr/>
        </p:nvSpPr>
        <p:spPr>
          <a:xfrm>
            <a:off x="914400" y="2971800"/>
            <a:ext cx="9144000" cy="1524030"/>
          </a:xfrm>
          <a:prstGeom prst="rect">
            <a:avLst/>
          </a:prstGeom>
          <a:noFill/>
          <a:ln/>
        </p:spPr>
        <p:txBody>
          <a:bodyPr wrap="square" lIns="0" tIns="0" rIns="0" bIns="0" rtlCol="0" anchor="t"/>
          <a:lstStyle/>
          <a:p>
            <a:pPr algn="l" indent="0" marL="0">
              <a:lnSpc>
                <a:spcPct val="105000"/>
              </a:lnSpc>
              <a:buNone/>
            </a:pPr>
            <a:r>
              <a:rPr lang="en-US" sz="4500" b="1" dirty="0">
                <a:solidFill>
                  <a:srgbClr val="F5F3EF"/>
                </a:solidFill>
                <a:latin typeface="Playfair Display" pitchFamily="34" charset="0"/>
                <a:ea typeface="Playfair Display" pitchFamily="34" charset="-122"/>
                <a:cs typeface="Playfair Display" pitchFamily="34" charset="-120"/>
              </a:rPr>
              <a:t>How the grade is calculated</a:t>
            </a:r>
            <a:endParaRPr lang="en-US" sz="4500" dirty="0"/>
          </a:p>
        </p:txBody>
      </p:sp>
      <p:sp>
        <p:nvSpPr>
          <p:cNvPr id="4" name="Text 2"/>
          <p:cNvSpPr/>
          <p:nvPr/>
        </p:nvSpPr>
        <p:spPr>
          <a:xfrm>
            <a:off x="914400" y="4648170"/>
            <a:ext cx="8572500" cy="723930"/>
          </a:xfrm>
          <a:prstGeom prst="rect">
            <a:avLst/>
          </a:prstGeom>
          <a:noFill/>
          <a:ln/>
        </p:spPr>
        <p:txBody>
          <a:bodyPr wrap="square" lIns="0" tIns="0" rIns="0" bIns="0" rtlCol="0" anchor="t"/>
          <a:lstStyle/>
          <a:p>
            <a:pPr algn="l" indent="0" marL="0">
              <a:lnSpc>
                <a:spcPct val="140000"/>
              </a:lnSpc>
              <a:buNone/>
            </a:pPr>
            <a:r>
              <a:rPr lang="en-US" sz="1650" dirty="0">
                <a:solidFill>
                  <a:srgbClr val="999999"/>
                </a:solidFill>
                <a:latin typeface="Inter" pitchFamily="34" charset="0"/>
                <a:ea typeface="Inter" pitchFamily="34" charset="-122"/>
                <a:cs typeface="Inter" pitchFamily="34" charset="-120"/>
              </a:rPr>
              <a:t>Same method, same sources, every municipality. That is what makes the comparison fair.</a:t>
            </a:r>
            <a:endParaRPr lang="en-US" sz="1650" dirty="0"/>
          </a:p>
        </p:txBody>
      </p:sp>
      <p:sp>
        <p:nvSpPr>
          <p:cNvPr id="5" name="Shape 3"/>
          <p:cNvSpPr/>
          <p:nvPr/>
        </p:nvSpPr>
        <p:spPr>
          <a:xfrm>
            <a:off x="914400" y="6096030"/>
            <a:ext cx="10363170" cy="9510"/>
          </a:xfrm>
          <a:prstGeom prst="rect">
            <a:avLst/>
          </a:prstGeom>
          <a:solidFill>
            <a:srgbClr val="333333">
              <a:alpha val="25000"/>
            </a:srgbClr>
          </a:solidFill>
          <a:ln/>
        </p:spPr>
      </p:sp>
      <p:sp>
        <p:nvSpPr>
          <p:cNvPr id="6" name="Text 4"/>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999999"/>
                </a:solidFill>
                <a:latin typeface="DM Mono" pitchFamily="34" charset="0"/>
                <a:ea typeface="DM Mono" pitchFamily="34" charset="-122"/>
                <a:cs typeface="DM Mono" pitchFamily="34" charset="-120"/>
              </a:rPr>
              <a:t>Danmarks Mobilitetsatlas · Beta Mobility</a:t>
            </a:r>
            <a:endParaRPr lang="en-US" sz="975" dirty="0"/>
          </a:p>
        </p:txBody>
      </p:sp>
      <p:sp>
        <p:nvSpPr>
          <p:cNvPr id="7" name="Text 5"/>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999999"/>
                </a:solidFill>
                <a:latin typeface="DM Mono" pitchFamily="34" charset="0"/>
                <a:ea typeface="DM Mono" pitchFamily="34" charset="-122"/>
                <a:cs typeface="DM Mono" pitchFamily="34" charset="-120"/>
              </a:rPr>
              <a:t>06</a:t>
            </a:r>
            <a:endParaRPr lang="en-US" sz="9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From analysis to grade</a:t>
            </a:r>
            <a:endParaRPr lang="en-US" sz="3000" dirty="0"/>
          </a:p>
        </p:txBody>
      </p:sp>
      <p:sp>
        <p:nvSpPr>
          <p:cNvPr id="3" name="Shape 1"/>
          <p:cNvSpPr/>
          <p:nvPr/>
        </p:nvSpPr>
        <p:spPr>
          <a:xfrm>
            <a:off x="914400" y="1866930"/>
            <a:ext cx="533370" cy="533370"/>
          </a:xfrm>
          <a:prstGeom prst="ellipse">
            <a:avLst/>
          </a:prstGeom>
          <a:solidFill>
            <a:srgbClr val="4A7C59"/>
          </a:solidFill>
          <a:ln/>
        </p:spPr>
      </p:sp>
      <p:sp>
        <p:nvSpPr>
          <p:cNvPr id="4" name="Text 2"/>
          <p:cNvSpPr/>
          <p:nvPr/>
        </p:nvSpPr>
        <p:spPr>
          <a:xfrm>
            <a:off x="914400" y="1866930"/>
            <a:ext cx="533370" cy="533370"/>
          </a:xfrm>
          <a:prstGeom prst="rect">
            <a:avLst/>
          </a:prstGeom>
          <a:noFill/>
          <a:ln/>
        </p:spPr>
        <p:txBody>
          <a:bodyPr wrap="square" lIns="0" tIns="0" rIns="0" bIns="0" rtlCol="0" anchor="ctr"/>
          <a:lstStyle/>
          <a:p>
            <a:pPr algn="ctr" indent="0" marL="0">
              <a:lnSpc>
                <a:spcPct val="100000"/>
              </a:lnSpc>
              <a:buNone/>
            </a:pPr>
            <a:r>
              <a:rPr lang="en-US" sz="1650" b="1" dirty="0">
                <a:solidFill>
                  <a:srgbClr val="F5F3EF"/>
                </a:solidFill>
                <a:latin typeface="DM Mono" pitchFamily="34" charset="0"/>
                <a:ea typeface="DM Mono" pitchFamily="34" charset="-122"/>
                <a:cs typeface="DM Mono" pitchFamily="34" charset="-120"/>
              </a:rPr>
              <a:t>1</a:t>
            </a:r>
            <a:endParaRPr lang="en-US" sz="1650" dirty="0"/>
          </a:p>
        </p:txBody>
      </p:sp>
      <p:sp>
        <p:nvSpPr>
          <p:cNvPr id="5" name="Text 3"/>
          <p:cNvSpPr/>
          <p:nvPr/>
        </p:nvSpPr>
        <p:spPr>
          <a:xfrm>
            <a:off x="914400" y="2609880"/>
            <a:ext cx="2419320" cy="5715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Two measured reaches</a:t>
            </a:r>
            <a:endParaRPr lang="en-US" sz="1500" dirty="0"/>
          </a:p>
        </p:txBody>
      </p:sp>
      <p:sp>
        <p:nvSpPr>
          <p:cNvPr id="6" name="Text 4"/>
          <p:cNvSpPr/>
          <p:nvPr/>
        </p:nvSpPr>
        <p:spPr>
          <a:xfrm>
            <a:off x="914400" y="3238530"/>
            <a:ext cx="2419320" cy="171450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Rejseplanen timetables and the OpenStreetMap road network: what you reach by public transport, and by car. Trips over 90 minutes do not count.</a:t>
            </a:r>
            <a:endParaRPr lang="en-US" sz="1125" dirty="0"/>
          </a:p>
        </p:txBody>
      </p:sp>
      <p:sp>
        <p:nvSpPr>
          <p:cNvPr id="7" name="Shape 5"/>
          <p:cNvSpPr/>
          <p:nvPr/>
        </p:nvSpPr>
        <p:spPr>
          <a:xfrm>
            <a:off x="3562320" y="1866930"/>
            <a:ext cx="533370" cy="533370"/>
          </a:xfrm>
          <a:prstGeom prst="ellipse">
            <a:avLst/>
          </a:prstGeom>
          <a:solidFill>
            <a:srgbClr val="4A7C59"/>
          </a:solidFill>
          <a:ln/>
        </p:spPr>
      </p:sp>
      <p:sp>
        <p:nvSpPr>
          <p:cNvPr id="8" name="Text 6"/>
          <p:cNvSpPr/>
          <p:nvPr/>
        </p:nvSpPr>
        <p:spPr>
          <a:xfrm>
            <a:off x="3562320" y="1866930"/>
            <a:ext cx="533370" cy="533370"/>
          </a:xfrm>
          <a:prstGeom prst="rect">
            <a:avLst/>
          </a:prstGeom>
          <a:noFill/>
          <a:ln/>
        </p:spPr>
        <p:txBody>
          <a:bodyPr wrap="square" lIns="0" tIns="0" rIns="0" bIns="0" rtlCol="0" anchor="ctr"/>
          <a:lstStyle/>
          <a:p>
            <a:pPr algn="ctr" indent="0" marL="0">
              <a:lnSpc>
                <a:spcPct val="100000"/>
              </a:lnSpc>
              <a:buNone/>
            </a:pPr>
            <a:r>
              <a:rPr lang="en-US" sz="1650" b="1" dirty="0">
                <a:solidFill>
                  <a:srgbClr val="F5F3EF"/>
                </a:solidFill>
                <a:latin typeface="DM Mono" pitchFamily="34" charset="0"/>
                <a:ea typeface="DM Mono" pitchFamily="34" charset="-122"/>
                <a:cs typeface="DM Mono" pitchFamily="34" charset="-120"/>
              </a:rPr>
              <a:t>2</a:t>
            </a:r>
            <a:endParaRPr lang="en-US" sz="1650" dirty="0"/>
          </a:p>
        </p:txBody>
      </p:sp>
      <p:sp>
        <p:nvSpPr>
          <p:cNvPr id="9" name="Text 7"/>
          <p:cNvSpPr/>
          <p:nvPr/>
        </p:nvSpPr>
        <p:spPr>
          <a:xfrm>
            <a:off x="3562320" y="2609880"/>
            <a:ext cx="2419320" cy="5715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Everyday destinations</a:t>
            </a:r>
            <a:endParaRPr lang="en-US" sz="1500" dirty="0"/>
          </a:p>
        </p:txBody>
      </p:sp>
      <p:sp>
        <p:nvSpPr>
          <p:cNvPr id="10" name="Text 8"/>
          <p:cNvSpPr/>
          <p:nvPr/>
        </p:nvSpPr>
        <p:spPr>
          <a:xfrm>
            <a:off x="3562320" y="3238530"/>
            <a:ext cx="2419320" cy="171450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Five kinds: workplaces, groceries, schools, health, social. The first destinations within reach count most.</a:t>
            </a:r>
            <a:endParaRPr lang="en-US" sz="1125" dirty="0"/>
          </a:p>
        </p:txBody>
      </p:sp>
      <p:sp>
        <p:nvSpPr>
          <p:cNvPr id="11" name="Shape 9"/>
          <p:cNvSpPr/>
          <p:nvPr/>
        </p:nvSpPr>
        <p:spPr>
          <a:xfrm>
            <a:off x="6210330" y="1866930"/>
            <a:ext cx="533370" cy="533370"/>
          </a:xfrm>
          <a:prstGeom prst="ellipse">
            <a:avLst/>
          </a:prstGeom>
          <a:solidFill>
            <a:srgbClr val="4A7C59"/>
          </a:solidFill>
          <a:ln/>
        </p:spPr>
      </p:sp>
      <p:sp>
        <p:nvSpPr>
          <p:cNvPr id="12" name="Text 10"/>
          <p:cNvSpPr/>
          <p:nvPr/>
        </p:nvSpPr>
        <p:spPr>
          <a:xfrm>
            <a:off x="6210330" y="1866930"/>
            <a:ext cx="533370" cy="533370"/>
          </a:xfrm>
          <a:prstGeom prst="rect">
            <a:avLst/>
          </a:prstGeom>
          <a:noFill/>
          <a:ln/>
        </p:spPr>
        <p:txBody>
          <a:bodyPr wrap="square" lIns="0" tIns="0" rIns="0" bIns="0" rtlCol="0" anchor="ctr"/>
          <a:lstStyle/>
          <a:p>
            <a:pPr algn="ctr" indent="0" marL="0">
              <a:lnSpc>
                <a:spcPct val="100000"/>
              </a:lnSpc>
              <a:buNone/>
            </a:pPr>
            <a:r>
              <a:rPr lang="en-US" sz="1650" b="1" dirty="0">
                <a:solidFill>
                  <a:srgbClr val="F5F3EF"/>
                </a:solidFill>
                <a:latin typeface="DM Mono" pitchFamily="34" charset="0"/>
                <a:ea typeface="DM Mono" pitchFamily="34" charset="-122"/>
                <a:cs typeface="DM Mono" pitchFamily="34" charset="-120"/>
              </a:rPr>
              <a:t>3</a:t>
            </a:r>
            <a:endParaRPr lang="en-US" sz="1650" dirty="0"/>
          </a:p>
        </p:txBody>
      </p:sp>
      <p:sp>
        <p:nvSpPr>
          <p:cNvPr id="13" name="Text 11"/>
          <p:cNvSpPr/>
          <p:nvPr/>
        </p:nvSpPr>
        <p:spPr>
          <a:xfrm>
            <a:off x="6210330" y="2609880"/>
            <a:ext cx="2419320" cy="5715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Two scores</a:t>
            </a:r>
            <a:endParaRPr lang="en-US" sz="1500" dirty="0"/>
          </a:p>
        </p:txBody>
      </p:sp>
      <p:sp>
        <p:nvSpPr>
          <p:cNvPr id="14" name="Text 12"/>
          <p:cNvSpPr/>
          <p:nvPr/>
        </p:nvSpPr>
        <p:spPr>
          <a:xfrm>
            <a:off x="6210330" y="3238530"/>
            <a:ext cx="2419320" cy="171450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Public transport quality is how much of everyday life you reach without a car. Transport choice is how much further the car gets you.</a:t>
            </a:r>
            <a:endParaRPr lang="en-US" sz="1125" dirty="0"/>
          </a:p>
        </p:txBody>
      </p:sp>
      <p:sp>
        <p:nvSpPr>
          <p:cNvPr id="15" name="Shape 13"/>
          <p:cNvSpPr/>
          <p:nvPr/>
        </p:nvSpPr>
        <p:spPr>
          <a:xfrm>
            <a:off x="8858250" y="1866930"/>
            <a:ext cx="533370" cy="533370"/>
          </a:xfrm>
          <a:prstGeom prst="ellipse">
            <a:avLst/>
          </a:prstGeom>
          <a:solidFill>
            <a:srgbClr val="4A7C59"/>
          </a:solidFill>
          <a:ln/>
        </p:spPr>
      </p:sp>
      <p:sp>
        <p:nvSpPr>
          <p:cNvPr id="16" name="Text 14"/>
          <p:cNvSpPr/>
          <p:nvPr/>
        </p:nvSpPr>
        <p:spPr>
          <a:xfrm>
            <a:off x="8858250" y="1866930"/>
            <a:ext cx="533370" cy="533370"/>
          </a:xfrm>
          <a:prstGeom prst="rect">
            <a:avLst/>
          </a:prstGeom>
          <a:noFill/>
          <a:ln/>
        </p:spPr>
        <p:txBody>
          <a:bodyPr wrap="square" lIns="0" tIns="0" rIns="0" bIns="0" rtlCol="0" anchor="ctr"/>
          <a:lstStyle/>
          <a:p>
            <a:pPr algn="ctr" indent="0" marL="0">
              <a:lnSpc>
                <a:spcPct val="100000"/>
              </a:lnSpc>
              <a:buNone/>
            </a:pPr>
            <a:r>
              <a:rPr lang="en-US" sz="1650" b="1" dirty="0">
                <a:solidFill>
                  <a:srgbClr val="F5F3EF"/>
                </a:solidFill>
                <a:latin typeface="DM Mono" pitchFamily="34" charset="0"/>
                <a:ea typeface="DM Mono" pitchFamily="34" charset="-122"/>
                <a:cs typeface="DM Mono" pitchFamily="34" charset="-120"/>
              </a:rPr>
              <a:t>4</a:t>
            </a:r>
            <a:endParaRPr lang="en-US" sz="1650" dirty="0"/>
          </a:p>
        </p:txBody>
      </p:sp>
      <p:sp>
        <p:nvSpPr>
          <p:cNvPr id="17" name="Text 15"/>
          <p:cNvSpPr/>
          <p:nvPr/>
        </p:nvSpPr>
        <p:spPr>
          <a:xfrm>
            <a:off x="8858250" y="2609880"/>
            <a:ext cx="2419320" cy="5715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The grade</a:t>
            </a:r>
            <a:endParaRPr lang="en-US" sz="1500" dirty="0"/>
          </a:p>
        </p:txBody>
      </p:sp>
      <p:sp>
        <p:nvSpPr>
          <p:cNvPr id="18" name="Text 16"/>
          <p:cNvSpPr/>
          <p:nvPr/>
        </p:nvSpPr>
        <p:spPr>
          <a:xfrm>
            <a:off x="8858250" y="3238530"/>
            <a:ext cx="2419320" cy="171450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Their average is mobility freedom, and that determines the letter, A to G.</a:t>
            </a:r>
            <a:endParaRPr lang="en-US" sz="1125" dirty="0"/>
          </a:p>
        </p:txBody>
      </p:sp>
      <p:sp>
        <p:nvSpPr>
          <p:cNvPr id="19" name="Shape 17"/>
          <p:cNvSpPr/>
          <p:nvPr/>
        </p:nvSpPr>
        <p:spPr>
          <a:xfrm>
            <a:off x="1562070" y="2114550"/>
            <a:ext cx="1885950" cy="38130"/>
          </a:xfrm>
          <a:prstGeom prst="line">
            <a:avLst/>
          </a:prstGeom>
          <a:noFill/>
          <a:ln w="19050">
            <a:solidFill>
              <a:srgbClr val="4A7C59"/>
            </a:solidFill>
            <a:prstDash val="dash"/>
            <a:headEnd type="none"/>
            <a:tailEnd type="triangle"/>
          </a:ln>
        </p:spPr>
      </p:sp>
      <p:sp>
        <p:nvSpPr>
          <p:cNvPr id="20" name="Shape 18"/>
          <p:cNvSpPr/>
          <p:nvPr/>
        </p:nvSpPr>
        <p:spPr>
          <a:xfrm>
            <a:off x="4210080" y="2114550"/>
            <a:ext cx="1885950" cy="38130"/>
          </a:xfrm>
          <a:prstGeom prst="line">
            <a:avLst/>
          </a:prstGeom>
          <a:noFill/>
          <a:ln w="19050">
            <a:solidFill>
              <a:srgbClr val="4A7C59"/>
            </a:solidFill>
            <a:prstDash val="dash"/>
            <a:headEnd type="none"/>
            <a:tailEnd type="triangle"/>
          </a:ln>
        </p:spPr>
      </p:sp>
      <p:sp>
        <p:nvSpPr>
          <p:cNvPr id="21" name="Shape 19"/>
          <p:cNvSpPr/>
          <p:nvPr/>
        </p:nvSpPr>
        <p:spPr>
          <a:xfrm>
            <a:off x="6858000" y="2114550"/>
            <a:ext cx="1885950" cy="38130"/>
          </a:xfrm>
          <a:prstGeom prst="line">
            <a:avLst/>
          </a:prstGeom>
          <a:noFill/>
          <a:ln w="19050">
            <a:solidFill>
              <a:srgbClr val="4A7C59"/>
            </a:solidFill>
            <a:prstDash val="dash"/>
            <a:headEnd type="none"/>
            <a:tailEnd type="triangle"/>
          </a:ln>
        </p:spPr>
      </p:sp>
      <p:sp>
        <p:nvSpPr>
          <p:cNvPr id="22" name="Shape 20"/>
          <p:cNvSpPr/>
          <p:nvPr/>
        </p:nvSpPr>
        <p:spPr>
          <a:xfrm>
            <a:off x="914400" y="5200650"/>
            <a:ext cx="4953030" cy="571500"/>
          </a:xfrm>
          <a:prstGeom prst="roundRect">
            <a:avLst>
              <a:gd name="adj" fmla="val 13328"/>
            </a:avLst>
          </a:prstGeom>
          <a:solidFill>
            <a:srgbClr val="F0EDE8"/>
          </a:solidFill>
          <a:ln/>
        </p:spPr>
      </p:sp>
      <p:sp>
        <p:nvSpPr>
          <p:cNvPr id="23" name="Text 21"/>
          <p:cNvSpPr/>
          <p:nvPr/>
        </p:nvSpPr>
        <p:spPr>
          <a:xfrm>
            <a:off x="1143000" y="5200650"/>
            <a:ext cx="4495830" cy="571500"/>
          </a:xfrm>
          <a:prstGeom prst="rect">
            <a:avLst/>
          </a:prstGeom>
          <a:noFill/>
          <a:ln/>
        </p:spPr>
        <p:txBody>
          <a:bodyPr wrap="square" lIns="0" tIns="0" rIns="0" bIns="0" rtlCol="0" anchor="ctr"/>
          <a:lstStyle/>
          <a:p>
            <a:pPr algn="l" indent="0" marL="0">
              <a:lnSpc>
                <a:spcPct val="130000"/>
              </a:lnSpc>
              <a:buNone/>
            </a:pPr>
            <a:r>
              <a:rPr lang="en-US" sz="1275" b="1" dirty="0">
                <a:solidFill>
                  <a:srgbClr val="1A1A1A"/>
                </a:solidFill>
                <a:latin typeface="DM Mono" pitchFamily="34" charset="0"/>
                <a:ea typeface="DM Mono" pitchFamily="34" charset="-122"/>
                <a:cs typeface="DM Mono" pitchFamily="34" charset="-120"/>
              </a:rPr>
              <a:t>→  What the atlas does not capture (yet)</a:t>
            </a:r>
            <a:endParaRPr lang="en-US" sz="1275" dirty="0"/>
          </a:p>
        </p:txBody>
      </p:sp>
      <p:sp>
        <p:nvSpPr>
          <p:cNvPr id="24" name="Text 22"/>
          <p:cNvSpPr/>
          <p:nvPr/>
        </p:nvSpPr>
        <p:spPr>
          <a:xfrm>
            <a:off x="6096030" y="5257800"/>
            <a:ext cx="518163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~75,000 points · 98 municipalities · Edition 0.4.0 · 22 August 2026</a:t>
            </a:r>
            <a:endParaRPr lang="en-US" sz="975" dirty="0"/>
          </a:p>
        </p:txBody>
      </p:sp>
      <p:sp>
        <p:nvSpPr>
          <p:cNvPr id="25" name="Shape 23"/>
          <p:cNvSpPr/>
          <p:nvPr/>
        </p:nvSpPr>
        <p:spPr>
          <a:xfrm>
            <a:off x="914400" y="6096030"/>
            <a:ext cx="10363170" cy="9510"/>
          </a:xfrm>
          <a:prstGeom prst="rect">
            <a:avLst/>
          </a:prstGeom>
          <a:solidFill>
            <a:srgbClr val="333333">
              <a:alpha val="25000"/>
            </a:srgbClr>
          </a:solidFill>
          <a:ln/>
        </p:spPr>
      </p:sp>
      <p:sp>
        <p:nvSpPr>
          <p:cNvPr id="26" name="Text 24"/>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27" name="Text 25"/>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07</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What the atlas does not capture (yet)</a:t>
            </a:r>
            <a:endParaRPr lang="en-US" sz="3000" dirty="0"/>
          </a:p>
        </p:txBody>
      </p:sp>
      <p:sp>
        <p:nvSpPr>
          <p:cNvPr id="3" name="Shape 1"/>
          <p:cNvSpPr/>
          <p:nvPr/>
        </p:nvSpPr>
        <p:spPr>
          <a:xfrm>
            <a:off x="914400" y="1904970"/>
            <a:ext cx="457200" cy="38130"/>
          </a:xfrm>
          <a:prstGeom prst="rect">
            <a:avLst/>
          </a:prstGeom>
          <a:solidFill>
            <a:srgbClr val="4A7C59"/>
          </a:solidFill>
          <a:ln/>
        </p:spPr>
      </p:sp>
      <p:sp>
        <p:nvSpPr>
          <p:cNvPr id="4" name="Text 2"/>
          <p:cNvSpPr/>
          <p:nvPr/>
        </p:nvSpPr>
        <p:spPr>
          <a:xfrm>
            <a:off x="914400" y="21145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Congestion</a:t>
            </a:r>
            <a:endParaRPr lang="en-US" sz="1500" dirty="0"/>
          </a:p>
        </p:txBody>
      </p:sp>
      <p:sp>
        <p:nvSpPr>
          <p:cNvPr id="5" name="Text 3"/>
          <p:cNvSpPr/>
          <p:nvPr/>
        </p:nvSpPr>
        <p:spPr>
          <a:xfrm>
            <a:off x="914400" y="25336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Car times are computed without queues, so the car's advantage is overstated where congestion is worst.</a:t>
            </a:r>
            <a:endParaRPr lang="en-US" sz="1125" dirty="0"/>
          </a:p>
        </p:txBody>
      </p:sp>
      <p:sp>
        <p:nvSpPr>
          <p:cNvPr id="6" name="Shape 4"/>
          <p:cNvSpPr/>
          <p:nvPr/>
        </p:nvSpPr>
        <p:spPr>
          <a:xfrm>
            <a:off x="4476720" y="1904970"/>
            <a:ext cx="457200" cy="38130"/>
          </a:xfrm>
          <a:prstGeom prst="rect">
            <a:avLst/>
          </a:prstGeom>
          <a:solidFill>
            <a:srgbClr val="4A7C59"/>
          </a:solidFill>
          <a:ln/>
        </p:spPr>
      </p:sp>
      <p:sp>
        <p:nvSpPr>
          <p:cNvPr id="7" name="Text 5"/>
          <p:cNvSpPr/>
          <p:nvPr/>
        </p:nvSpPr>
        <p:spPr>
          <a:xfrm>
            <a:off x="4476720" y="21145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Flextrafik</a:t>
            </a:r>
            <a:endParaRPr lang="en-US" sz="1500" dirty="0"/>
          </a:p>
        </p:txBody>
      </p:sp>
      <p:sp>
        <p:nvSpPr>
          <p:cNvPr id="8" name="Text 6"/>
          <p:cNvSpPr/>
          <p:nvPr/>
        </p:nvSpPr>
        <p:spPr>
          <a:xfrm>
            <a:off x="4476720" y="25336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Flextur and Plustur are not in the Rejseplanen feed, so sparsely populated municipalities get no credit for them.</a:t>
            </a:r>
            <a:endParaRPr lang="en-US" sz="1125" dirty="0"/>
          </a:p>
        </p:txBody>
      </p:sp>
      <p:sp>
        <p:nvSpPr>
          <p:cNvPr id="9" name="Shape 7"/>
          <p:cNvSpPr/>
          <p:nvPr/>
        </p:nvSpPr>
        <p:spPr>
          <a:xfrm>
            <a:off x="8039130" y="1904970"/>
            <a:ext cx="457200" cy="38130"/>
          </a:xfrm>
          <a:prstGeom prst="rect">
            <a:avLst/>
          </a:prstGeom>
          <a:solidFill>
            <a:srgbClr val="4A7C59"/>
          </a:solidFill>
          <a:ln/>
        </p:spPr>
      </p:sp>
      <p:sp>
        <p:nvSpPr>
          <p:cNvPr id="10" name="Text 8"/>
          <p:cNvSpPr/>
          <p:nvPr/>
        </p:nvSpPr>
        <p:spPr>
          <a:xfrm>
            <a:off x="8039130" y="21145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The bicycle</a:t>
            </a:r>
            <a:endParaRPr lang="en-US" sz="1500" dirty="0"/>
          </a:p>
        </p:txBody>
      </p:sp>
      <p:sp>
        <p:nvSpPr>
          <p:cNvPr id="11" name="Text 9"/>
          <p:cNvSpPr/>
          <p:nvPr/>
        </p:nvSpPr>
        <p:spPr>
          <a:xfrm>
            <a:off x="8039130" y="25336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Walking counts as access to the network; cycling is not yet a mode of its own. In Denmark that is the most noticeable omission.</a:t>
            </a:r>
            <a:endParaRPr lang="en-US" sz="1125" dirty="0"/>
          </a:p>
        </p:txBody>
      </p:sp>
      <p:sp>
        <p:nvSpPr>
          <p:cNvPr id="12" name="Shape 10"/>
          <p:cNvSpPr/>
          <p:nvPr/>
        </p:nvSpPr>
        <p:spPr>
          <a:xfrm>
            <a:off x="914400" y="3962370"/>
            <a:ext cx="457200" cy="38130"/>
          </a:xfrm>
          <a:prstGeom prst="rect">
            <a:avLst/>
          </a:prstGeom>
          <a:solidFill>
            <a:srgbClr val="4A7C59"/>
          </a:solidFill>
          <a:ln/>
        </p:spPr>
      </p:sp>
      <p:sp>
        <p:nvSpPr>
          <p:cNvPr id="13" name="Text 11"/>
          <p:cNvSpPr/>
          <p:nvPr/>
        </p:nvSpPr>
        <p:spPr>
          <a:xfrm>
            <a:off x="914400" y="41719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Journey quality</a:t>
            </a:r>
            <a:endParaRPr lang="en-US" sz="1500" dirty="0"/>
          </a:p>
        </p:txBody>
      </p:sp>
      <p:sp>
        <p:nvSpPr>
          <p:cNvPr id="14" name="Text 12"/>
          <p:cNvSpPr/>
          <p:nvPr/>
        </p:nvSpPr>
        <p:spPr>
          <a:xfrm>
            <a:off x="914400" y="45910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A seat, a safe interchange at night, a platform that works with a pram. We measure travel time and reach, not how it feels.</a:t>
            </a:r>
            <a:endParaRPr lang="en-US" sz="1125" dirty="0"/>
          </a:p>
        </p:txBody>
      </p:sp>
      <p:sp>
        <p:nvSpPr>
          <p:cNvPr id="15" name="Shape 13"/>
          <p:cNvSpPr/>
          <p:nvPr/>
        </p:nvSpPr>
        <p:spPr>
          <a:xfrm>
            <a:off x="4476720" y="3962370"/>
            <a:ext cx="457200" cy="38130"/>
          </a:xfrm>
          <a:prstGeom prst="rect">
            <a:avLst/>
          </a:prstGeom>
          <a:solidFill>
            <a:srgbClr val="4A7C59"/>
          </a:solidFill>
          <a:ln/>
        </p:spPr>
      </p:sp>
      <p:sp>
        <p:nvSpPr>
          <p:cNvPr id="16" name="Text 14"/>
          <p:cNvSpPr/>
          <p:nvPr/>
        </p:nvSpPr>
        <p:spPr>
          <a:xfrm>
            <a:off x="4476720" y="41719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Timetable, not reality</a:t>
            </a:r>
            <a:endParaRPr lang="en-US" sz="1500" dirty="0"/>
          </a:p>
        </p:txBody>
      </p:sp>
      <p:sp>
        <p:nvSpPr>
          <p:cNvPr id="17" name="Text 15"/>
          <p:cNvSpPr/>
          <p:nvPr/>
        </p:nvSpPr>
        <p:spPr>
          <a:xfrm>
            <a:off x="4476720" y="45910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Delays and missed connections are not included. This is what the timetable promises.</a:t>
            </a:r>
            <a:endParaRPr lang="en-US" sz="1125" dirty="0"/>
          </a:p>
        </p:txBody>
      </p:sp>
      <p:sp>
        <p:nvSpPr>
          <p:cNvPr id="18" name="Shape 16"/>
          <p:cNvSpPr/>
          <p:nvPr/>
        </p:nvSpPr>
        <p:spPr>
          <a:xfrm>
            <a:off x="8039130" y="3962370"/>
            <a:ext cx="457200" cy="38130"/>
          </a:xfrm>
          <a:prstGeom prst="rect">
            <a:avLst/>
          </a:prstGeom>
          <a:solidFill>
            <a:srgbClr val="4A7C59"/>
          </a:solidFill>
          <a:ln/>
        </p:spPr>
      </p:sp>
      <p:sp>
        <p:nvSpPr>
          <p:cNvPr id="19" name="Text 17"/>
          <p:cNvSpPr/>
          <p:nvPr/>
        </p:nvSpPr>
        <p:spPr>
          <a:xfrm>
            <a:off x="8039130" y="4171950"/>
            <a:ext cx="3238530" cy="342900"/>
          </a:xfrm>
          <a:prstGeom prst="rect">
            <a:avLst/>
          </a:prstGeom>
          <a:noFill/>
          <a:ln/>
        </p:spPr>
        <p:txBody>
          <a:bodyPr wrap="square" lIns="0" tIns="0" rIns="0" bIns="0" rtlCol="0" anchor="t"/>
          <a:lstStyle/>
          <a:p>
            <a:pPr algn="l" indent="0" marL="0">
              <a:lnSpc>
                <a:spcPct val="125000"/>
              </a:lnSpc>
              <a:buNone/>
            </a:pPr>
            <a:r>
              <a:rPr lang="en-US" sz="1500" b="1" dirty="0">
                <a:solidFill>
                  <a:srgbClr val="1A1A1A"/>
                </a:solidFill>
                <a:latin typeface="Inter" pitchFamily="34" charset="0"/>
                <a:ea typeface="Inter" pitchFamily="34" charset="-122"/>
                <a:cs typeface="Inter" pitchFamily="34" charset="-120"/>
              </a:rPr>
              <a:t>Supply, not behaviour</a:t>
            </a:r>
            <a:endParaRPr lang="en-US" sz="1500" dirty="0"/>
          </a:p>
        </p:txBody>
      </p:sp>
      <p:sp>
        <p:nvSpPr>
          <p:cNvPr id="20" name="Text 18"/>
          <p:cNvSpPr/>
          <p:nvPr/>
        </p:nvSpPr>
        <p:spPr>
          <a:xfrm>
            <a:off x="8039130" y="4591020"/>
            <a:ext cx="3238530" cy="1238280"/>
          </a:xfrm>
          <a:prstGeom prst="rect">
            <a:avLst/>
          </a:prstGeom>
          <a:noFill/>
          <a:ln/>
        </p:spPr>
        <p:txBody>
          <a:bodyPr wrap="square" lIns="0" tIns="0" rIns="0" bIns="0" rtlCol="0" anchor="t"/>
          <a:lstStyle/>
          <a:p>
            <a:pPr algn="l" indent="0" marL="0">
              <a:lnSpc>
                <a:spcPct val="150000"/>
              </a:lnSpc>
              <a:buNone/>
            </a:pPr>
            <a:r>
              <a:rPr lang="en-US" sz="1125" dirty="0">
                <a:solidFill>
                  <a:srgbClr val="666666"/>
                </a:solidFill>
                <a:latin typeface="Inter" pitchFamily="34" charset="0"/>
                <a:ea typeface="Inter" pitchFamily="34" charset="-122"/>
                <a:cs typeface="Inter" pitchFamily="34" charset="-120"/>
              </a:rPr>
              <a:t>What can be reached, not what people do. Two municipalities with the same grade can travel very differently.</a:t>
            </a:r>
            <a:endParaRPr lang="en-US" sz="1125" dirty="0"/>
          </a:p>
        </p:txBody>
      </p:sp>
      <p:sp>
        <p:nvSpPr>
          <p:cNvPr id="21" name="Text 19"/>
          <p:cNvSpPr/>
          <p:nvPr/>
        </p:nvSpPr>
        <p:spPr>
          <a:xfrm>
            <a:off x="914400" y="5753130"/>
            <a:ext cx="6667530" cy="266730"/>
          </a:xfrm>
          <a:prstGeom prst="rect">
            <a:avLst/>
          </a:prstGeom>
          <a:noFill/>
          <a:ln/>
        </p:spPr>
        <p:txBody>
          <a:bodyPr wrap="square" lIns="0" tIns="0" rIns="0" bIns="0" rtlCol="0" anchor="ctr"/>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  back to the method</a:t>
            </a:r>
            <a:endParaRPr lang="en-US" sz="1050" dirty="0"/>
          </a:p>
        </p:txBody>
      </p:sp>
      <p:sp>
        <p:nvSpPr>
          <p:cNvPr id="22" name="Shape 20"/>
          <p:cNvSpPr/>
          <p:nvPr/>
        </p:nvSpPr>
        <p:spPr>
          <a:xfrm>
            <a:off x="0" y="0"/>
            <a:ext cx="12191970" cy="6858000"/>
          </a:xfrm>
          <a:prstGeom prst="rect">
            <a:avLst/>
          </a:prstGeom>
          <a:solidFill>
            <a:srgbClr val="000000">
              <a:alpha val="0"/>
            </a:srgbClr>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The A–G scale, and where Denmark sits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14400" y="1828800"/>
          <a:ext cx="5943600" cy="3810030"/>
        </p:xfrm>
        <a:graphic>
          <a:graphicData uri="http://schemas.openxmlformats.org/drawingml/2006/table">
            <a:tbl>
              <a:tblPr/>
              <a:tblGrid>
                <a:gridCol w="950976"/>
                <a:gridCol w="1545336"/>
                <a:gridCol w="1783080"/>
                <a:gridCol w="1664208"/>
              </a:tblGrid>
              <a:tr h="476254">
                <a:tc>
                  <a:txBody>
                    <a:bodyPr/>
                    <a:lstStyle/>
                    <a:p>
                      <a:pPr algn="l" indent="0" marL="0">
                        <a:buNone/>
                      </a:pPr>
                      <a:r>
                        <a:rPr lang="en-US" sz="1275" b="1" dirty="0">
                          <a:solidFill>
                            <a:srgbClr val="F5F3EF"/>
                          </a:solidFill>
                          <a:latin typeface="Inter" pitchFamily="34" charset="0"/>
                          <a:ea typeface="Inter" pitchFamily="34" charset="-122"/>
                          <a:cs typeface="Inter" pitchFamily="34" charset="-120"/>
                        </a:rPr>
                        <a:t>Grade</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1A1A1A"/>
                    </a:solidFill>
                  </a:tcPr>
                </a:tc>
                <a:tc>
                  <a:txBody>
                    <a:bodyPr/>
                    <a:lstStyle/>
                    <a:p>
                      <a:pPr algn="l" indent="0" marL="0">
                        <a:buNone/>
                      </a:pPr>
                      <a:r>
                        <a:rPr lang="en-US" sz="1275" b="1" dirty="0">
                          <a:solidFill>
                            <a:srgbClr val="F5F3EF"/>
                          </a:solidFill>
                          <a:latin typeface="Inter" pitchFamily="34" charset="0"/>
                          <a:ea typeface="Inter" pitchFamily="34" charset="-122"/>
                          <a:cs typeface="Inter" pitchFamily="34" charset="-120"/>
                        </a:rPr>
                        <a:t>Score</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1A1A1A"/>
                    </a:solidFill>
                  </a:tcPr>
                </a:tc>
                <a:tc>
                  <a:txBody>
                    <a:bodyPr/>
                    <a:lstStyle/>
                    <a:p>
                      <a:pPr algn="r" indent="0" marL="0">
                        <a:buNone/>
                      </a:pPr>
                      <a:r>
                        <a:rPr lang="en-US" sz="1275" b="1" dirty="0">
                          <a:solidFill>
                            <a:srgbClr val="F5F3EF"/>
                          </a:solidFill>
                          <a:latin typeface="Inter" pitchFamily="34" charset="0"/>
                          <a:ea typeface="Inter" pitchFamily="34" charset="-122"/>
                          <a:cs typeface="Inter" pitchFamily="34" charset="-120"/>
                        </a:rPr>
                        <a:t>Municipalities</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1A1A1A"/>
                    </a:solidFill>
                  </a:tcPr>
                </a:tc>
                <a:tc>
                  <a:txBody>
                    <a:bodyPr/>
                    <a:lstStyle/>
                    <a:p>
                      <a:pPr algn="r" indent="0" marL="0">
                        <a:buNone/>
                      </a:pPr>
                      <a:r>
                        <a:rPr lang="en-US" sz="1275" b="1" dirty="0">
                          <a:solidFill>
                            <a:srgbClr val="F5F3EF"/>
                          </a:solidFill>
                          <a:latin typeface="Inter" pitchFamily="34" charset="0"/>
                          <a:ea typeface="Inter" pitchFamily="34" charset="-122"/>
                          <a:cs typeface="Inter" pitchFamily="34" charset="-120"/>
                        </a:rPr>
                        <a:t>Population</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1A1A1A"/>
                    </a:solidFill>
                  </a:tcPr>
                </a:tc>
              </a:tr>
              <a:tr h="476254">
                <a:tc>
                  <a:txBody>
                    <a:bodyPr/>
                    <a:lstStyle/>
                    <a:p>
                      <a:pPr algn="ctr" indent="0" marL="0">
                        <a:buNone/>
                      </a:pPr>
                      <a:r>
                        <a:rPr lang="en-US" sz="1275" b="1" dirty="0">
                          <a:solidFill>
                            <a:srgbClr val="1A1A1A"/>
                          </a:solidFill>
                          <a:latin typeface="Inter" pitchFamily="34" charset="0"/>
                          <a:ea typeface="Inter" pitchFamily="34" charset="-122"/>
                          <a:cs typeface="Inter" pitchFamily="34" charset="-120"/>
                        </a:rPr>
                        <a:t>A</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1A9850"/>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70–100</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22</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27%</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1A1A1A"/>
                          </a:solidFill>
                          <a:latin typeface="Inter" pitchFamily="34" charset="0"/>
                          <a:ea typeface="Inter" pitchFamily="34" charset="-122"/>
                          <a:cs typeface="Inter" pitchFamily="34" charset="-120"/>
                        </a:rPr>
                        <a:t>B</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66BD63"/>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55–70</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9</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16%</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1A1A1A"/>
                          </a:solidFill>
                          <a:latin typeface="Inter" pitchFamily="34" charset="0"/>
                          <a:ea typeface="Inter" pitchFamily="34" charset="-122"/>
                          <a:cs typeface="Inter" pitchFamily="34" charset="-120"/>
                        </a:rPr>
                        <a:t>C</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A6D96A"/>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45–55</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4</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6%</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1A1A1A"/>
                          </a:solidFill>
                          <a:latin typeface="Inter" pitchFamily="34" charset="0"/>
                          <a:ea typeface="Inter" pitchFamily="34" charset="-122"/>
                          <a:cs typeface="Inter" pitchFamily="34" charset="-120"/>
                        </a:rPr>
                        <a:t>D</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EE08B"/>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30–45</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34</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31%</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1A1A1A"/>
                          </a:solidFill>
                          <a:latin typeface="Inter" pitchFamily="34" charset="0"/>
                          <a:ea typeface="Inter" pitchFamily="34" charset="-122"/>
                          <a:cs typeface="Inter" pitchFamily="34" charset="-120"/>
                        </a:rPr>
                        <a:t>E</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F46D43"/>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22–30</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17</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11%</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F5F3EF"/>
                          </a:solidFill>
                          <a:latin typeface="Inter" pitchFamily="34" charset="0"/>
                          <a:ea typeface="Inter" pitchFamily="34" charset="-122"/>
                          <a:cs typeface="Inter" pitchFamily="34" charset="-120"/>
                        </a:rPr>
                        <a:t>F</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D73027"/>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15–22</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9</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6%</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r h="476254">
                <a:tc>
                  <a:txBody>
                    <a:bodyPr/>
                    <a:lstStyle/>
                    <a:p>
                      <a:pPr algn="ctr" indent="0" marL="0">
                        <a:buNone/>
                      </a:pPr>
                      <a:r>
                        <a:rPr lang="en-US" sz="1275" b="1" dirty="0">
                          <a:solidFill>
                            <a:srgbClr val="F5F3EF"/>
                          </a:solidFill>
                          <a:latin typeface="Inter" pitchFamily="34" charset="0"/>
                          <a:ea typeface="Inter" pitchFamily="34" charset="-122"/>
                          <a:cs typeface="Inter" pitchFamily="34" charset="-120"/>
                        </a:rPr>
                        <a:t>G</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solidFill>
                      <a:srgbClr val="A50026"/>
                    </a:solidFill>
                  </a:tcPr>
                </a:tc>
                <a:tc>
                  <a:txBody>
                    <a:bodyPr/>
                    <a:lstStyle/>
                    <a:p>
                      <a:pPr algn="l" indent="0" marL="0">
                        <a:buNone/>
                      </a:pPr>
                      <a:r>
                        <a:rPr lang="en-US" sz="1275" dirty="0">
                          <a:solidFill>
                            <a:srgbClr val="1A1A1A"/>
                          </a:solidFill>
                          <a:latin typeface="Inter" pitchFamily="34" charset="0"/>
                          <a:ea typeface="Inter" pitchFamily="34" charset="-122"/>
                          <a:cs typeface="Inter" pitchFamily="34" charset="-120"/>
                        </a:rPr>
                        <a:t>0–15</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3</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c>
                  <a:txBody>
                    <a:bodyPr/>
                    <a:lstStyle/>
                    <a:p>
                      <a:pPr algn="r" indent="0" marL="0">
                        <a:buNone/>
                      </a:pPr>
                      <a:r>
                        <a:rPr lang="en-US" sz="1275" dirty="0">
                          <a:solidFill>
                            <a:srgbClr val="1A1A1A"/>
                          </a:solidFill>
                          <a:latin typeface="Inter" pitchFamily="34" charset="0"/>
                          <a:ea typeface="Inter" pitchFamily="34" charset="-122"/>
                          <a:cs typeface="Inter" pitchFamily="34" charset="-120"/>
                        </a:rPr>
                        <a:t>2%</a:t>
                      </a:r>
                      <a:endParaRPr lang="en-US" sz="1275" dirty="0">
                        <a:latin typeface="Inter" charset="0"/>
                        <a:ea typeface="Inter" charset="0"/>
                        <a:cs typeface="Inter" charset="0"/>
                      </a:endParaRPr>
                    </a:p>
                  </a:txBody>
                  <a:tcPr marL="133350" marR="133350" marT="95250" marB="95250" anchor="ctr">
                    <a:lnL w="9525" cap="flat" cmpd="sng" algn="ctr">
                      <a:solidFill>
                        <a:srgbClr val="1A1A1A"/>
                      </a:solidFill>
                      <a:prstDash val="solid"/>
                      <a:round/>
                      <a:headEnd type="none" w="med" len="med"/>
                      <a:tailEnd type="none" w="med" len="med"/>
                    </a:lnL>
                    <a:lnR w="9525" cap="flat" cmpd="sng" algn="ctr">
                      <a:solidFill>
                        <a:srgbClr val="1A1A1A"/>
                      </a:solidFill>
                      <a:prstDash val="solid"/>
                      <a:round/>
                      <a:headEnd type="none" w="med" len="med"/>
                      <a:tailEnd type="none" w="med" len="med"/>
                    </a:lnR>
                    <a:lnT w="9525" cap="flat" cmpd="sng" algn="ctr">
                      <a:solidFill>
                        <a:srgbClr val="1A1A1A"/>
                      </a:solidFill>
                      <a:prstDash val="solid"/>
                      <a:round/>
                      <a:headEnd type="none" w="med" len="med"/>
                      <a:tailEnd type="none" w="med" len="med"/>
                    </a:lnT>
                    <a:lnB w="9525" cap="flat" cmpd="sng" algn="ctr">
                      <a:solidFill>
                        <a:srgbClr val="1A1A1A"/>
                      </a:solidFill>
                      <a:prstDash val="solid"/>
                      <a:round/>
                      <a:headEnd type="none" w="med" len="med"/>
                      <a:tailEnd type="none" w="med" len="med"/>
                    </a:lnB>
                  </a:tcPr>
                </a:tc>
              </a:tr>
            </a:tbl>
          </a:graphicData>
        </a:graphic>
      </p:graphicFrame>
      <p:sp>
        <p:nvSpPr>
          <p:cNvPr id="4" name="Text 1"/>
          <p:cNvSpPr/>
          <p:nvPr/>
        </p:nvSpPr>
        <p:spPr>
          <a:xfrm>
            <a:off x="7162770" y="1828800"/>
            <a:ext cx="4114800" cy="266730"/>
          </a:xfrm>
          <a:prstGeom prst="rect">
            <a:avLst/>
          </a:prstGeom>
          <a:noFill/>
          <a:ln/>
        </p:spPr>
        <p:txBody>
          <a:bodyPr wrap="square" lIns="0" tIns="0" rIns="0" bIns="0" rtlCol="0" anchor="ctr"/>
          <a:lstStyle/>
          <a:p>
            <a:pPr algn="l" indent="0" marL="0">
              <a:lnSpc>
                <a:spcPct val="130000"/>
              </a:lnSpc>
              <a:buNone/>
            </a:pPr>
            <a:r>
              <a:rPr lang="en-US" sz="975" spc="113" kern="0" dirty="0">
                <a:solidFill>
                  <a:srgbClr val="666666"/>
                </a:solidFill>
                <a:latin typeface="DM Mono" pitchFamily="34" charset="0"/>
                <a:ea typeface="DM Mono" pitchFamily="34" charset="-122"/>
                <a:cs typeface="DM Mono" pitchFamily="34" charset="-120"/>
              </a:rPr>
              <a:t>WORKED EXAMPLE · ROSKILDE</a:t>
            </a:r>
            <a:endParaRPr lang="en-US" sz="975" dirty="0"/>
          </a:p>
        </p:txBody>
      </p:sp>
      <p:sp>
        <p:nvSpPr>
          <p:cNvPr id="5" name="Text 2"/>
          <p:cNvSpPr/>
          <p:nvPr/>
        </p:nvSpPr>
        <p:spPr>
          <a:xfrm>
            <a:off x="7162770" y="2247870"/>
            <a:ext cx="1904970" cy="533370"/>
          </a:xfrm>
          <a:prstGeom prst="rect">
            <a:avLst/>
          </a:prstGeom>
          <a:noFill/>
          <a:ln/>
        </p:spPr>
        <p:txBody>
          <a:bodyPr wrap="square" lIns="0" tIns="0" rIns="0" bIns="0" rtlCol="0" anchor="t"/>
          <a:lstStyle/>
          <a:p>
            <a:pPr algn="l" indent="0" marL="0">
              <a:lnSpc>
                <a:spcPct val="100000"/>
              </a:lnSpc>
              <a:buNone/>
            </a:pPr>
            <a:r>
              <a:rPr lang="en-US" sz="3300" b="1" dirty="0">
                <a:solidFill>
                  <a:srgbClr val="1A1A1A"/>
                </a:solidFill>
                <a:latin typeface="Playfair Display" pitchFamily="34" charset="0"/>
                <a:ea typeface="Playfair Display" pitchFamily="34" charset="-122"/>
                <a:cs typeface="Playfair Display" pitchFamily="34" charset="-120"/>
              </a:rPr>
              <a:t>70.7</a:t>
            </a:r>
            <a:endParaRPr lang="en-US" sz="3300" dirty="0"/>
          </a:p>
        </p:txBody>
      </p:sp>
      <p:sp>
        <p:nvSpPr>
          <p:cNvPr id="6" name="Text 3"/>
          <p:cNvSpPr/>
          <p:nvPr/>
        </p:nvSpPr>
        <p:spPr>
          <a:xfrm>
            <a:off x="7162770" y="2800350"/>
            <a:ext cx="4114800" cy="266730"/>
          </a:xfrm>
          <a:prstGeom prst="rect">
            <a:avLst/>
          </a:prstGeom>
          <a:noFill/>
          <a:ln/>
        </p:spPr>
        <p:txBody>
          <a:bodyPr wrap="square" lIns="0" tIns="0" rIns="0" bIns="0" rtlCol="0" anchor="t"/>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Public transport quality</a:t>
            </a:r>
            <a:endParaRPr lang="en-US" sz="1050" dirty="0"/>
          </a:p>
        </p:txBody>
      </p:sp>
      <p:sp>
        <p:nvSpPr>
          <p:cNvPr id="7" name="Text 4"/>
          <p:cNvSpPr/>
          <p:nvPr/>
        </p:nvSpPr>
        <p:spPr>
          <a:xfrm>
            <a:off x="7162770" y="3238530"/>
            <a:ext cx="1904970" cy="533370"/>
          </a:xfrm>
          <a:prstGeom prst="rect">
            <a:avLst/>
          </a:prstGeom>
          <a:noFill/>
          <a:ln/>
        </p:spPr>
        <p:txBody>
          <a:bodyPr wrap="square" lIns="0" tIns="0" rIns="0" bIns="0" rtlCol="0" anchor="t"/>
          <a:lstStyle/>
          <a:p>
            <a:pPr algn="l" indent="0" marL="0">
              <a:lnSpc>
                <a:spcPct val="100000"/>
              </a:lnSpc>
              <a:buNone/>
            </a:pPr>
            <a:r>
              <a:rPr lang="en-US" sz="3300" b="1" dirty="0">
                <a:solidFill>
                  <a:srgbClr val="1A1A1A"/>
                </a:solidFill>
                <a:latin typeface="Playfair Display" pitchFamily="34" charset="0"/>
                <a:ea typeface="Playfair Display" pitchFamily="34" charset="-122"/>
                <a:cs typeface="Playfair Display" pitchFamily="34" charset="-120"/>
              </a:rPr>
              <a:t>66.3</a:t>
            </a:r>
            <a:endParaRPr lang="en-US" sz="3300" dirty="0"/>
          </a:p>
        </p:txBody>
      </p:sp>
      <p:sp>
        <p:nvSpPr>
          <p:cNvPr id="8" name="Text 5"/>
          <p:cNvSpPr/>
          <p:nvPr/>
        </p:nvSpPr>
        <p:spPr>
          <a:xfrm>
            <a:off x="7162770" y="3790920"/>
            <a:ext cx="4114800" cy="266730"/>
          </a:xfrm>
          <a:prstGeom prst="rect">
            <a:avLst/>
          </a:prstGeom>
          <a:noFill/>
          <a:ln/>
        </p:spPr>
        <p:txBody>
          <a:bodyPr wrap="square" lIns="0" tIns="0" rIns="0" bIns="0" rtlCol="0" anchor="t"/>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Transport choice</a:t>
            </a:r>
            <a:endParaRPr lang="en-US" sz="1050" dirty="0"/>
          </a:p>
        </p:txBody>
      </p:sp>
      <p:sp>
        <p:nvSpPr>
          <p:cNvPr id="9" name="Shape 6"/>
          <p:cNvSpPr/>
          <p:nvPr/>
        </p:nvSpPr>
        <p:spPr>
          <a:xfrm>
            <a:off x="7162770" y="4305270"/>
            <a:ext cx="4114800" cy="9510"/>
          </a:xfrm>
          <a:prstGeom prst="rect">
            <a:avLst/>
          </a:prstGeom>
          <a:solidFill>
            <a:srgbClr val="333333">
              <a:alpha val="25000"/>
            </a:srgbClr>
          </a:solidFill>
          <a:ln/>
        </p:spPr>
      </p:sp>
      <p:sp>
        <p:nvSpPr>
          <p:cNvPr id="10" name="Text 7"/>
          <p:cNvSpPr/>
          <p:nvPr/>
        </p:nvSpPr>
        <p:spPr>
          <a:xfrm>
            <a:off x="7162770" y="4533870"/>
            <a:ext cx="2476470" cy="609630"/>
          </a:xfrm>
          <a:prstGeom prst="rect">
            <a:avLst/>
          </a:prstGeom>
          <a:noFill/>
          <a:ln/>
        </p:spPr>
        <p:txBody>
          <a:bodyPr wrap="square" lIns="0" tIns="0" rIns="0" bIns="0" rtlCol="0" anchor="t"/>
          <a:lstStyle/>
          <a:p>
            <a:pPr algn="l" indent="0" marL="0">
              <a:lnSpc>
                <a:spcPct val="100000"/>
              </a:lnSpc>
              <a:buNone/>
            </a:pPr>
            <a:r>
              <a:rPr lang="en-US" sz="4200" b="1" dirty="0">
                <a:solidFill>
                  <a:srgbClr val="1A1A1A"/>
                </a:solidFill>
                <a:latin typeface="Playfair Display" pitchFamily="34" charset="0"/>
                <a:ea typeface="Playfair Display" pitchFamily="34" charset="-122"/>
                <a:cs typeface="Playfair Display" pitchFamily="34" charset="-120"/>
              </a:rPr>
              <a:t>68.5</a:t>
            </a:r>
            <a:endParaRPr lang="en-US" sz="4200" dirty="0"/>
          </a:p>
        </p:txBody>
      </p:sp>
      <p:sp>
        <p:nvSpPr>
          <p:cNvPr id="11" name="Shape 8"/>
          <p:cNvSpPr/>
          <p:nvPr/>
        </p:nvSpPr>
        <p:spPr>
          <a:xfrm>
            <a:off x="9563070" y="4572000"/>
            <a:ext cx="685800" cy="533370"/>
          </a:xfrm>
          <a:prstGeom prst="roundRect">
            <a:avLst>
              <a:gd name="adj" fmla="val 10715"/>
            </a:avLst>
          </a:prstGeom>
          <a:solidFill>
            <a:srgbClr val="66BD63"/>
          </a:solidFill>
          <a:ln/>
        </p:spPr>
      </p:sp>
      <p:sp>
        <p:nvSpPr>
          <p:cNvPr id="12" name="Text 9"/>
          <p:cNvSpPr/>
          <p:nvPr/>
        </p:nvSpPr>
        <p:spPr>
          <a:xfrm>
            <a:off x="9563070" y="4572000"/>
            <a:ext cx="685800" cy="533370"/>
          </a:xfrm>
          <a:prstGeom prst="rect">
            <a:avLst/>
          </a:prstGeom>
          <a:noFill/>
          <a:ln/>
        </p:spPr>
        <p:txBody>
          <a:bodyPr wrap="square" lIns="0" tIns="0" rIns="0" bIns="0" rtlCol="0" anchor="ctr"/>
          <a:lstStyle/>
          <a:p>
            <a:pPr algn="ctr" indent="0" marL="0">
              <a:lnSpc>
                <a:spcPct val="100000"/>
              </a:lnSpc>
              <a:buNone/>
            </a:pPr>
            <a:r>
              <a:rPr lang="en-US" sz="2100" b="1" dirty="0">
                <a:solidFill>
                  <a:srgbClr val="1A1A1A"/>
                </a:solidFill>
                <a:latin typeface="DM Mono" pitchFamily="34" charset="0"/>
                <a:ea typeface="DM Mono" pitchFamily="34" charset="-122"/>
                <a:cs typeface="DM Mono" pitchFamily="34" charset="-120"/>
              </a:rPr>
              <a:t>B</a:t>
            </a:r>
            <a:endParaRPr lang="en-US" sz="2100" dirty="0"/>
          </a:p>
        </p:txBody>
      </p:sp>
      <p:sp>
        <p:nvSpPr>
          <p:cNvPr id="13" name="Text 10"/>
          <p:cNvSpPr/>
          <p:nvPr/>
        </p:nvSpPr>
        <p:spPr>
          <a:xfrm>
            <a:off x="7162770" y="5200650"/>
            <a:ext cx="4114800" cy="266730"/>
          </a:xfrm>
          <a:prstGeom prst="rect">
            <a:avLst/>
          </a:prstGeom>
          <a:noFill/>
          <a:ln/>
        </p:spPr>
        <p:txBody>
          <a:bodyPr wrap="square" lIns="0" tIns="0" rIns="0" bIns="0" rtlCol="0" anchor="t"/>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their average is mobility freedom</a:t>
            </a:r>
            <a:endParaRPr lang="en-US" sz="1050" dirty="0"/>
          </a:p>
        </p:txBody>
      </p:sp>
      <p:sp>
        <p:nvSpPr>
          <p:cNvPr id="14" name="Text 11"/>
          <p:cNvSpPr/>
          <p:nvPr/>
        </p:nvSpPr>
        <p:spPr>
          <a:xfrm>
            <a:off x="914400" y="575313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Edition 0.4.0 · 22 August 2026 · Data as of 2026-09-09</a:t>
            </a:r>
            <a:endParaRPr lang="en-US" sz="975" dirty="0"/>
          </a:p>
        </p:txBody>
      </p:sp>
      <p:sp>
        <p:nvSpPr>
          <p:cNvPr id="15" name="Shape 12"/>
          <p:cNvSpPr/>
          <p:nvPr/>
        </p:nvSpPr>
        <p:spPr>
          <a:xfrm>
            <a:off x="914400" y="6096030"/>
            <a:ext cx="10363170" cy="9510"/>
          </a:xfrm>
          <a:prstGeom prst="rect">
            <a:avLst/>
          </a:prstGeom>
          <a:solidFill>
            <a:srgbClr val="333333">
              <a:alpha val="25000"/>
            </a:srgbClr>
          </a:solidFill>
          <a:ln/>
        </p:spPr>
      </p:sp>
      <p:sp>
        <p:nvSpPr>
          <p:cNvPr id="16" name="Text 13"/>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17" name="Text 14"/>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08</a:t>
            </a:r>
            <a:endParaRPr lang="en-US" sz="9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914400" y="2590770"/>
            <a:ext cx="6096030" cy="304770"/>
          </a:xfrm>
          <a:prstGeom prst="rect">
            <a:avLst/>
          </a:prstGeom>
          <a:noFill/>
          <a:ln/>
        </p:spPr>
        <p:txBody>
          <a:bodyPr wrap="square" lIns="0" tIns="0" rIns="0" bIns="0" rtlCol="0" anchor="ctr"/>
          <a:lstStyle/>
          <a:p>
            <a:pPr algn="l" indent="0" marL="0">
              <a:lnSpc>
                <a:spcPct val="130000"/>
              </a:lnSpc>
              <a:buNone/>
            </a:pPr>
            <a:r>
              <a:rPr lang="en-US" sz="1050" spc="150" kern="0" dirty="0">
                <a:solidFill>
                  <a:srgbClr val="40916C"/>
                </a:solidFill>
                <a:latin typeface="DM Mono" pitchFamily="34" charset="0"/>
                <a:ea typeface="DM Mono" pitchFamily="34" charset="-122"/>
                <a:cs typeface="DM Mono" pitchFamily="34" charset="-120"/>
              </a:rPr>
              <a:t>PART 3</a:t>
            </a:r>
            <a:endParaRPr lang="en-US" sz="1050" dirty="0"/>
          </a:p>
        </p:txBody>
      </p:sp>
      <p:sp>
        <p:nvSpPr>
          <p:cNvPr id="3" name="Text 1"/>
          <p:cNvSpPr/>
          <p:nvPr/>
        </p:nvSpPr>
        <p:spPr>
          <a:xfrm>
            <a:off x="914400" y="2971800"/>
            <a:ext cx="9144000" cy="1524030"/>
          </a:xfrm>
          <a:prstGeom prst="rect">
            <a:avLst/>
          </a:prstGeom>
          <a:noFill/>
          <a:ln/>
        </p:spPr>
        <p:txBody>
          <a:bodyPr wrap="square" lIns="0" tIns="0" rIns="0" bIns="0" rtlCol="0" anchor="t"/>
          <a:lstStyle/>
          <a:p>
            <a:pPr algn="l" indent="0" marL="0">
              <a:lnSpc>
                <a:spcPct val="105000"/>
              </a:lnSpc>
              <a:buNone/>
            </a:pPr>
            <a:r>
              <a:rPr lang="en-US" sz="4500" b="1" dirty="0">
                <a:solidFill>
                  <a:srgbClr val="F5F3EF"/>
                </a:solidFill>
                <a:latin typeface="Playfair Display" pitchFamily="34" charset="0"/>
                <a:ea typeface="Playfair Display" pitchFamily="34" charset="-122"/>
                <a:cs typeface="Playfair Display" pitchFamily="34" charset="-120"/>
              </a:rPr>
              <a:t>What it looks like for your municipality</a:t>
            </a:r>
            <a:endParaRPr lang="en-US" sz="4500" dirty="0"/>
          </a:p>
        </p:txBody>
      </p:sp>
      <p:sp>
        <p:nvSpPr>
          <p:cNvPr id="4" name="Text 2"/>
          <p:cNvSpPr/>
          <p:nvPr/>
        </p:nvSpPr>
        <p:spPr>
          <a:xfrm>
            <a:off x="914400" y="4762470"/>
            <a:ext cx="8572500" cy="723930"/>
          </a:xfrm>
          <a:prstGeom prst="rect">
            <a:avLst/>
          </a:prstGeom>
          <a:noFill/>
          <a:ln/>
        </p:spPr>
        <p:txBody>
          <a:bodyPr wrap="square" lIns="0" tIns="0" rIns="0" bIns="0" rtlCol="0" anchor="t"/>
          <a:lstStyle/>
          <a:p>
            <a:pPr algn="l" indent="0" marL="0">
              <a:lnSpc>
                <a:spcPct val="140000"/>
              </a:lnSpc>
              <a:buNone/>
            </a:pPr>
            <a:r>
              <a:rPr lang="en-US" sz="1650" dirty="0">
                <a:solidFill>
                  <a:srgbClr val="999999"/>
                </a:solidFill>
                <a:latin typeface="Inter" pitchFamily="34" charset="0"/>
                <a:ea typeface="Inter" pitchFamily="34" charset="-122"/>
                <a:cs typeface="Inter" pitchFamily="34" charset="-120"/>
              </a:rPr>
              <a:t>Every municipality has a page: the grade, the two pillars, the trend, the plans behind it.</a:t>
            </a:r>
            <a:endParaRPr lang="en-US" sz="1650" dirty="0"/>
          </a:p>
        </p:txBody>
      </p:sp>
      <p:sp>
        <p:nvSpPr>
          <p:cNvPr id="5" name="Shape 3"/>
          <p:cNvSpPr/>
          <p:nvPr/>
        </p:nvSpPr>
        <p:spPr>
          <a:xfrm>
            <a:off x="914400" y="6096030"/>
            <a:ext cx="10363170" cy="9510"/>
          </a:xfrm>
          <a:prstGeom prst="rect">
            <a:avLst/>
          </a:prstGeom>
          <a:solidFill>
            <a:srgbClr val="333333">
              <a:alpha val="25000"/>
            </a:srgbClr>
          </a:solidFill>
          <a:ln/>
        </p:spPr>
      </p:sp>
      <p:sp>
        <p:nvSpPr>
          <p:cNvPr id="6" name="Text 4"/>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999999"/>
                </a:solidFill>
                <a:latin typeface="DM Mono" pitchFamily="34" charset="0"/>
                <a:ea typeface="DM Mono" pitchFamily="34" charset="-122"/>
                <a:cs typeface="DM Mono" pitchFamily="34" charset="-120"/>
              </a:rPr>
              <a:t>Danmarks Mobilitetsatlas · Beta Mobility</a:t>
            </a:r>
            <a:endParaRPr lang="en-US" sz="975" dirty="0"/>
          </a:p>
        </p:txBody>
      </p:sp>
      <p:sp>
        <p:nvSpPr>
          <p:cNvPr id="7" name="Text 5"/>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999999"/>
                </a:solidFill>
                <a:latin typeface="DM Mono" pitchFamily="34" charset="0"/>
                <a:ea typeface="DM Mono" pitchFamily="34" charset="-122"/>
                <a:cs typeface="DM Mono" pitchFamily="34" charset="-120"/>
              </a:rPr>
              <a:t>09</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Aarhus, at municipal level</a:t>
            </a:r>
            <a:endParaRPr lang="en-US" sz="3000" dirty="0"/>
          </a:p>
        </p:txBody>
      </p:sp>
      <p:sp>
        <p:nvSpPr>
          <p:cNvPr id="3" name="Shape 1"/>
          <p:cNvSpPr/>
          <p:nvPr/>
        </p:nvSpPr>
        <p:spPr>
          <a:xfrm>
            <a:off x="914400" y="1781160"/>
            <a:ext cx="1409730" cy="371521"/>
          </a:xfrm>
          <a:prstGeom prst="roundRect">
            <a:avLst>
              <a:gd name="adj" fmla="val 10263"/>
            </a:avLst>
          </a:prstGeom>
          <a:solidFill>
            <a:srgbClr val="1A9850">
              <a:alpha val="25000"/>
            </a:srgbClr>
          </a:solidFill>
          <a:ln/>
        </p:spPr>
      </p:sp>
      <p:sp>
        <p:nvSpPr>
          <p:cNvPr id="4" name="Text 2"/>
          <p:cNvSpPr/>
          <p:nvPr/>
        </p:nvSpPr>
        <p:spPr>
          <a:xfrm>
            <a:off x="9144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1A1A1A">
                    <a:alpha val="25000"/>
                  </a:srgbClr>
                </a:solidFill>
                <a:latin typeface="DM Mono" pitchFamily="34" charset="0"/>
                <a:ea typeface="DM Mono" pitchFamily="34" charset="-122"/>
                <a:cs typeface="DM Mono" pitchFamily="34" charset="-120"/>
              </a:rPr>
              <a:t>A</a:t>
            </a:r>
            <a:endParaRPr lang="en-US" sz="900" dirty="0"/>
          </a:p>
        </p:txBody>
      </p:sp>
      <p:sp>
        <p:nvSpPr>
          <p:cNvPr id="5" name="Shape 3"/>
          <p:cNvSpPr/>
          <p:nvPr/>
        </p:nvSpPr>
        <p:spPr>
          <a:xfrm>
            <a:off x="2400300" y="1695480"/>
            <a:ext cx="1409730" cy="533370"/>
          </a:xfrm>
          <a:prstGeom prst="roundRect">
            <a:avLst>
              <a:gd name="adj" fmla="val 7149"/>
            </a:avLst>
          </a:prstGeom>
          <a:solidFill>
            <a:srgbClr val="66BD63"/>
          </a:solidFill>
          <a:ln/>
        </p:spPr>
      </p:sp>
      <p:sp>
        <p:nvSpPr>
          <p:cNvPr id="6" name="Text 4"/>
          <p:cNvSpPr/>
          <p:nvPr/>
        </p:nvSpPr>
        <p:spPr>
          <a:xfrm>
            <a:off x="2400300" y="1695480"/>
            <a:ext cx="1409730" cy="533370"/>
          </a:xfrm>
          <a:prstGeom prst="rect">
            <a:avLst/>
          </a:prstGeom>
          <a:noFill/>
          <a:ln/>
        </p:spPr>
        <p:txBody>
          <a:bodyPr wrap="square" lIns="0" tIns="0" rIns="0" bIns="0" rtlCol="0" anchor="ctr"/>
          <a:lstStyle/>
          <a:p>
            <a:pPr algn="ctr" indent="0" marL="0">
              <a:lnSpc>
                <a:spcPct val="100000"/>
              </a:lnSpc>
              <a:buNone/>
            </a:pPr>
            <a:r>
              <a:rPr lang="en-US" sz="1275" b="1" dirty="0">
                <a:solidFill>
                  <a:srgbClr val="1A1A1A"/>
                </a:solidFill>
                <a:latin typeface="DM Mono" pitchFamily="34" charset="0"/>
                <a:ea typeface="DM Mono" pitchFamily="34" charset="-122"/>
                <a:cs typeface="DM Mono" pitchFamily="34" charset="-120"/>
              </a:rPr>
              <a:t>B</a:t>
            </a:r>
            <a:endParaRPr lang="en-US" sz="1275" dirty="0"/>
          </a:p>
        </p:txBody>
      </p:sp>
      <p:sp>
        <p:nvSpPr>
          <p:cNvPr id="7" name="Shape 5"/>
          <p:cNvSpPr/>
          <p:nvPr/>
        </p:nvSpPr>
        <p:spPr>
          <a:xfrm>
            <a:off x="3886200" y="1781160"/>
            <a:ext cx="1409730" cy="371521"/>
          </a:xfrm>
          <a:prstGeom prst="roundRect">
            <a:avLst>
              <a:gd name="adj" fmla="val 10263"/>
            </a:avLst>
          </a:prstGeom>
          <a:solidFill>
            <a:srgbClr val="A6D96A">
              <a:alpha val="25000"/>
            </a:srgbClr>
          </a:solidFill>
          <a:ln/>
        </p:spPr>
      </p:sp>
      <p:sp>
        <p:nvSpPr>
          <p:cNvPr id="8" name="Text 6"/>
          <p:cNvSpPr/>
          <p:nvPr/>
        </p:nvSpPr>
        <p:spPr>
          <a:xfrm>
            <a:off x="38862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1A1A1A">
                    <a:alpha val="25000"/>
                  </a:srgbClr>
                </a:solidFill>
                <a:latin typeface="DM Mono" pitchFamily="34" charset="0"/>
                <a:ea typeface="DM Mono" pitchFamily="34" charset="-122"/>
                <a:cs typeface="DM Mono" pitchFamily="34" charset="-120"/>
              </a:rPr>
              <a:t>C</a:t>
            </a:r>
            <a:endParaRPr lang="en-US" sz="900" dirty="0"/>
          </a:p>
        </p:txBody>
      </p:sp>
      <p:sp>
        <p:nvSpPr>
          <p:cNvPr id="9" name="Shape 7"/>
          <p:cNvSpPr/>
          <p:nvPr/>
        </p:nvSpPr>
        <p:spPr>
          <a:xfrm>
            <a:off x="5372100" y="1781160"/>
            <a:ext cx="1409730" cy="371521"/>
          </a:xfrm>
          <a:prstGeom prst="roundRect">
            <a:avLst>
              <a:gd name="adj" fmla="val 10263"/>
            </a:avLst>
          </a:prstGeom>
          <a:solidFill>
            <a:srgbClr val="FEE08B">
              <a:alpha val="25000"/>
            </a:srgbClr>
          </a:solidFill>
          <a:ln/>
        </p:spPr>
      </p:sp>
      <p:sp>
        <p:nvSpPr>
          <p:cNvPr id="10" name="Text 8"/>
          <p:cNvSpPr/>
          <p:nvPr/>
        </p:nvSpPr>
        <p:spPr>
          <a:xfrm>
            <a:off x="53721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1A1A1A">
                    <a:alpha val="25000"/>
                  </a:srgbClr>
                </a:solidFill>
                <a:latin typeface="DM Mono" pitchFamily="34" charset="0"/>
                <a:ea typeface="DM Mono" pitchFamily="34" charset="-122"/>
                <a:cs typeface="DM Mono" pitchFamily="34" charset="-120"/>
              </a:rPr>
              <a:t>D</a:t>
            </a:r>
            <a:endParaRPr lang="en-US" sz="900" dirty="0"/>
          </a:p>
        </p:txBody>
      </p:sp>
      <p:sp>
        <p:nvSpPr>
          <p:cNvPr id="11" name="Shape 9"/>
          <p:cNvSpPr/>
          <p:nvPr/>
        </p:nvSpPr>
        <p:spPr>
          <a:xfrm>
            <a:off x="6858000" y="1781160"/>
            <a:ext cx="1409730" cy="371521"/>
          </a:xfrm>
          <a:prstGeom prst="roundRect">
            <a:avLst>
              <a:gd name="adj" fmla="val 10263"/>
            </a:avLst>
          </a:prstGeom>
          <a:solidFill>
            <a:srgbClr val="F46D43">
              <a:alpha val="25000"/>
            </a:srgbClr>
          </a:solidFill>
          <a:ln/>
        </p:spPr>
      </p:sp>
      <p:sp>
        <p:nvSpPr>
          <p:cNvPr id="12" name="Text 10"/>
          <p:cNvSpPr/>
          <p:nvPr/>
        </p:nvSpPr>
        <p:spPr>
          <a:xfrm>
            <a:off x="68580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1A1A1A">
                    <a:alpha val="25000"/>
                  </a:srgbClr>
                </a:solidFill>
                <a:latin typeface="DM Mono" pitchFamily="34" charset="0"/>
                <a:ea typeface="DM Mono" pitchFamily="34" charset="-122"/>
                <a:cs typeface="DM Mono" pitchFamily="34" charset="-120"/>
              </a:rPr>
              <a:t>E</a:t>
            </a:r>
            <a:endParaRPr lang="en-US" sz="900" dirty="0"/>
          </a:p>
        </p:txBody>
      </p:sp>
      <p:sp>
        <p:nvSpPr>
          <p:cNvPr id="13" name="Shape 11"/>
          <p:cNvSpPr/>
          <p:nvPr/>
        </p:nvSpPr>
        <p:spPr>
          <a:xfrm>
            <a:off x="8343900" y="1781160"/>
            <a:ext cx="1409730" cy="371521"/>
          </a:xfrm>
          <a:prstGeom prst="roundRect">
            <a:avLst>
              <a:gd name="adj" fmla="val 10263"/>
            </a:avLst>
          </a:prstGeom>
          <a:solidFill>
            <a:srgbClr val="D73027">
              <a:alpha val="25000"/>
            </a:srgbClr>
          </a:solidFill>
          <a:ln/>
        </p:spPr>
      </p:sp>
      <p:sp>
        <p:nvSpPr>
          <p:cNvPr id="14" name="Text 12"/>
          <p:cNvSpPr/>
          <p:nvPr/>
        </p:nvSpPr>
        <p:spPr>
          <a:xfrm>
            <a:off x="83439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F5F3EF">
                    <a:alpha val="25000"/>
                  </a:srgbClr>
                </a:solidFill>
                <a:latin typeface="DM Mono" pitchFamily="34" charset="0"/>
                <a:ea typeface="DM Mono" pitchFamily="34" charset="-122"/>
                <a:cs typeface="DM Mono" pitchFamily="34" charset="-120"/>
              </a:rPr>
              <a:t>F</a:t>
            </a:r>
            <a:endParaRPr lang="en-US" sz="900" dirty="0"/>
          </a:p>
        </p:txBody>
      </p:sp>
      <p:sp>
        <p:nvSpPr>
          <p:cNvPr id="15" name="Shape 13"/>
          <p:cNvSpPr/>
          <p:nvPr/>
        </p:nvSpPr>
        <p:spPr>
          <a:xfrm>
            <a:off x="9829800" y="1781160"/>
            <a:ext cx="1409730" cy="371521"/>
          </a:xfrm>
          <a:prstGeom prst="roundRect">
            <a:avLst>
              <a:gd name="adj" fmla="val 10263"/>
            </a:avLst>
          </a:prstGeom>
          <a:solidFill>
            <a:srgbClr val="A50026">
              <a:alpha val="25000"/>
            </a:srgbClr>
          </a:solidFill>
          <a:ln/>
        </p:spPr>
      </p:sp>
      <p:sp>
        <p:nvSpPr>
          <p:cNvPr id="16" name="Text 14"/>
          <p:cNvSpPr/>
          <p:nvPr/>
        </p:nvSpPr>
        <p:spPr>
          <a:xfrm>
            <a:off x="9829800" y="1781160"/>
            <a:ext cx="1409730" cy="371521"/>
          </a:xfrm>
          <a:prstGeom prst="rect">
            <a:avLst/>
          </a:prstGeom>
          <a:noFill/>
          <a:ln/>
        </p:spPr>
        <p:txBody>
          <a:bodyPr wrap="square" lIns="0" tIns="0" rIns="0" bIns="0" rtlCol="0" anchor="ctr"/>
          <a:lstStyle/>
          <a:p>
            <a:pPr algn="ctr" indent="0" marL="0">
              <a:lnSpc>
                <a:spcPct val="100000"/>
              </a:lnSpc>
              <a:buNone/>
            </a:pPr>
            <a:r>
              <a:rPr lang="en-US" sz="900" b="1" dirty="0">
                <a:solidFill>
                  <a:srgbClr val="F5F3EF">
                    <a:alpha val="25000"/>
                  </a:srgbClr>
                </a:solidFill>
                <a:latin typeface="DM Mono" pitchFamily="34" charset="0"/>
                <a:ea typeface="DM Mono" pitchFamily="34" charset="-122"/>
                <a:cs typeface="DM Mono" pitchFamily="34" charset="-120"/>
              </a:rPr>
              <a:t>G</a:t>
            </a:r>
            <a:endParaRPr lang="en-US" sz="900" dirty="0"/>
          </a:p>
        </p:txBody>
      </p:sp>
      <p:sp>
        <p:nvSpPr>
          <p:cNvPr id="17" name="Text 15"/>
          <p:cNvSpPr/>
          <p:nvPr/>
        </p:nvSpPr>
        <p:spPr>
          <a:xfrm>
            <a:off x="914400" y="2552730"/>
            <a:ext cx="3810030" cy="1238280"/>
          </a:xfrm>
          <a:prstGeom prst="rect">
            <a:avLst/>
          </a:prstGeom>
          <a:noFill/>
          <a:ln/>
        </p:spPr>
        <p:txBody>
          <a:bodyPr wrap="square" lIns="0" tIns="0" rIns="0" bIns="0" rtlCol="0" anchor="t"/>
          <a:lstStyle/>
          <a:p>
            <a:pPr algn="l" indent="0" marL="0">
              <a:lnSpc>
                <a:spcPct val="100000"/>
              </a:lnSpc>
              <a:buNone/>
            </a:pPr>
            <a:r>
              <a:rPr lang="en-US" sz="8700" b="1" dirty="0">
                <a:solidFill>
                  <a:srgbClr val="1A1A1A"/>
                </a:solidFill>
                <a:latin typeface="Playfair Display" pitchFamily="34" charset="0"/>
                <a:ea typeface="Playfair Display" pitchFamily="34" charset="-122"/>
                <a:cs typeface="Playfair Display" pitchFamily="34" charset="-120"/>
              </a:rPr>
              <a:t>68.6</a:t>
            </a:r>
            <a:endParaRPr lang="en-US" sz="8700" dirty="0"/>
          </a:p>
        </p:txBody>
      </p:sp>
      <p:sp>
        <p:nvSpPr>
          <p:cNvPr id="18" name="Shape 16"/>
          <p:cNvSpPr/>
          <p:nvPr/>
        </p:nvSpPr>
        <p:spPr>
          <a:xfrm>
            <a:off x="3810030" y="2743200"/>
            <a:ext cx="914400" cy="914400"/>
          </a:xfrm>
          <a:prstGeom prst="roundRect">
            <a:avLst>
              <a:gd name="adj" fmla="val 8330"/>
            </a:avLst>
          </a:prstGeom>
          <a:solidFill>
            <a:srgbClr val="66BD63"/>
          </a:solidFill>
          <a:ln/>
        </p:spPr>
      </p:sp>
      <p:sp>
        <p:nvSpPr>
          <p:cNvPr id="19" name="Text 17"/>
          <p:cNvSpPr/>
          <p:nvPr/>
        </p:nvSpPr>
        <p:spPr>
          <a:xfrm>
            <a:off x="3810030" y="2743200"/>
            <a:ext cx="914400" cy="914400"/>
          </a:xfrm>
          <a:prstGeom prst="rect">
            <a:avLst/>
          </a:prstGeom>
          <a:noFill/>
          <a:ln/>
        </p:spPr>
        <p:txBody>
          <a:bodyPr wrap="square" lIns="0" tIns="0" rIns="0" bIns="0" rtlCol="0" anchor="ctr"/>
          <a:lstStyle/>
          <a:p>
            <a:pPr algn="ctr" indent="0" marL="0">
              <a:lnSpc>
                <a:spcPct val="100000"/>
              </a:lnSpc>
              <a:buNone/>
            </a:pPr>
            <a:r>
              <a:rPr lang="en-US" sz="3300" b="1" dirty="0">
                <a:solidFill>
                  <a:srgbClr val="1A1A1A"/>
                </a:solidFill>
                <a:latin typeface="DM Mono" pitchFamily="34" charset="0"/>
                <a:ea typeface="DM Mono" pitchFamily="34" charset="-122"/>
                <a:cs typeface="DM Mono" pitchFamily="34" charset="-120"/>
              </a:rPr>
              <a:t>B</a:t>
            </a:r>
            <a:endParaRPr lang="en-US" sz="3300" dirty="0"/>
          </a:p>
        </p:txBody>
      </p:sp>
      <p:sp>
        <p:nvSpPr>
          <p:cNvPr id="20" name="Text 18"/>
          <p:cNvSpPr/>
          <p:nvPr/>
        </p:nvSpPr>
        <p:spPr>
          <a:xfrm>
            <a:off x="914400" y="3867180"/>
            <a:ext cx="4762470" cy="304770"/>
          </a:xfrm>
          <a:prstGeom prst="rect">
            <a:avLst/>
          </a:prstGeom>
          <a:noFill/>
          <a:ln/>
        </p:spPr>
        <p:txBody>
          <a:bodyPr wrap="square" lIns="0" tIns="0" rIns="0" bIns="0" rtlCol="0" anchor="t"/>
          <a:lstStyle/>
          <a:p>
            <a:pPr algn="l" indent="0" marL="0">
              <a:lnSpc>
                <a:spcPct val="130000"/>
              </a:lnSpc>
              <a:buNone/>
            </a:pPr>
            <a:r>
              <a:rPr lang="en-US" sz="1200" dirty="0">
                <a:solidFill>
                  <a:srgbClr val="666666"/>
                </a:solidFill>
                <a:latin typeface="DM Mono" pitchFamily="34" charset="0"/>
                <a:ea typeface="DM Mono" pitchFamily="34" charset="-122"/>
                <a:cs typeface="DM Mono" pitchFamily="34" charset="-120"/>
              </a:rPr>
              <a:t>No. 24 of 98 municipalities · high mobility freedom</a:t>
            </a:r>
            <a:endParaRPr lang="en-US" sz="1200" dirty="0"/>
          </a:p>
        </p:txBody>
      </p:sp>
      <p:sp>
        <p:nvSpPr>
          <p:cNvPr id="21" name="Shape 19"/>
          <p:cNvSpPr/>
          <p:nvPr/>
        </p:nvSpPr>
        <p:spPr>
          <a:xfrm>
            <a:off x="5943600" y="2552730"/>
            <a:ext cx="9510" cy="2286000"/>
          </a:xfrm>
          <a:prstGeom prst="rect">
            <a:avLst/>
          </a:prstGeom>
          <a:solidFill>
            <a:srgbClr val="333333">
              <a:alpha val="20000"/>
            </a:srgbClr>
          </a:solidFill>
          <a:ln/>
        </p:spPr>
      </p:sp>
      <p:sp>
        <p:nvSpPr>
          <p:cNvPr id="22" name="Text 20"/>
          <p:cNvSpPr/>
          <p:nvPr/>
        </p:nvSpPr>
        <p:spPr>
          <a:xfrm>
            <a:off x="6553230" y="2552730"/>
            <a:ext cx="2286000" cy="666780"/>
          </a:xfrm>
          <a:prstGeom prst="rect">
            <a:avLst/>
          </a:prstGeom>
          <a:noFill/>
          <a:ln/>
        </p:spPr>
        <p:txBody>
          <a:bodyPr wrap="square" lIns="0" tIns="0" rIns="0" bIns="0" rtlCol="0" anchor="t"/>
          <a:lstStyle/>
          <a:p>
            <a:pPr algn="l" indent="0" marL="0">
              <a:lnSpc>
                <a:spcPct val="100000"/>
              </a:lnSpc>
              <a:buNone/>
            </a:pPr>
            <a:r>
              <a:rPr lang="en-US" sz="4200" b="1" dirty="0">
                <a:solidFill>
                  <a:srgbClr val="1A1A1A"/>
                </a:solidFill>
                <a:latin typeface="Playfair Display" pitchFamily="34" charset="0"/>
                <a:ea typeface="Playfair Display" pitchFamily="34" charset="-122"/>
                <a:cs typeface="Playfair Display" pitchFamily="34" charset="-120"/>
              </a:rPr>
              <a:t>70.5</a:t>
            </a:r>
            <a:endParaRPr lang="en-US" sz="4200" dirty="0"/>
          </a:p>
        </p:txBody>
      </p:sp>
      <p:sp>
        <p:nvSpPr>
          <p:cNvPr id="23" name="Text 21"/>
          <p:cNvSpPr/>
          <p:nvPr/>
        </p:nvSpPr>
        <p:spPr>
          <a:xfrm>
            <a:off x="6553230" y="3276570"/>
            <a:ext cx="2286000" cy="533370"/>
          </a:xfrm>
          <a:prstGeom prst="rect">
            <a:avLst/>
          </a:prstGeom>
          <a:noFill/>
          <a:ln/>
        </p:spPr>
        <p:txBody>
          <a:bodyPr wrap="square" lIns="0" tIns="0" rIns="0" bIns="0" rtlCol="0" anchor="t"/>
          <a:lstStyle/>
          <a:p>
            <a:pPr algn="l" indent="0" marL="0">
              <a:lnSpc>
                <a:spcPct val="135000"/>
              </a:lnSpc>
              <a:buNone/>
            </a:pPr>
            <a:r>
              <a:rPr lang="en-US" sz="1050" dirty="0">
                <a:solidFill>
                  <a:srgbClr val="666666"/>
                </a:solidFill>
                <a:latin typeface="DM Mono" pitchFamily="34" charset="0"/>
                <a:ea typeface="DM Mono" pitchFamily="34" charset="-122"/>
                <a:cs typeface="DM Mono" pitchFamily="34" charset="-120"/>
              </a:rPr>
              <a:t>Public transport quality</a:t>
            </a:r>
            <a:endParaRPr lang="en-US" sz="1050" dirty="0"/>
          </a:p>
        </p:txBody>
      </p:sp>
      <p:sp>
        <p:nvSpPr>
          <p:cNvPr id="24" name="Text 22"/>
          <p:cNvSpPr/>
          <p:nvPr/>
        </p:nvSpPr>
        <p:spPr>
          <a:xfrm>
            <a:off x="9029700" y="2552730"/>
            <a:ext cx="2286000" cy="666780"/>
          </a:xfrm>
          <a:prstGeom prst="rect">
            <a:avLst/>
          </a:prstGeom>
          <a:noFill/>
          <a:ln/>
        </p:spPr>
        <p:txBody>
          <a:bodyPr wrap="square" lIns="0" tIns="0" rIns="0" bIns="0" rtlCol="0" anchor="t"/>
          <a:lstStyle/>
          <a:p>
            <a:pPr algn="l" indent="0" marL="0">
              <a:lnSpc>
                <a:spcPct val="100000"/>
              </a:lnSpc>
              <a:buNone/>
            </a:pPr>
            <a:r>
              <a:rPr lang="en-US" sz="4200" b="1" dirty="0">
                <a:solidFill>
                  <a:srgbClr val="1A1A1A"/>
                </a:solidFill>
                <a:latin typeface="Playfair Display" pitchFamily="34" charset="0"/>
                <a:ea typeface="Playfair Display" pitchFamily="34" charset="-122"/>
                <a:cs typeface="Playfair Display" pitchFamily="34" charset="-120"/>
              </a:rPr>
              <a:t>66.7</a:t>
            </a:r>
            <a:endParaRPr lang="en-US" sz="4200" dirty="0"/>
          </a:p>
        </p:txBody>
      </p:sp>
      <p:sp>
        <p:nvSpPr>
          <p:cNvPr id="25" name="Text 23"/>
          <p:cNvSpPr/>
          <p:nvPr/>
        </p:nvSpPr>
        <p:spPr>
          <a:xfrm>
            <a:off x="9029700" y="3276570"/>
            <a:ext cx="2286000" cy="533370"/>
          </a:xfrm>
          <a:prstGeom prst="rect">
            <a:avLst/>
          </a:prstGeom>
          <a:noFill/>
          <a:ln/>
        </p:spPr>
        <p:txBody>
          <a:bodyPr wrap="square" lIns="0" tIns="0" rIns="0" bIns="0" rtlCol="0" anchor="t"/>
          <a:lstStyle/>
          <a:p>
            <a:pPr algn="l" indent="0" marL="0">
              <a:lnSpc>
                <a:spcPct val="135000"/>
              </a:lnSpc>
              <a:buNone/>
            </a:pPr>
            <a:r>
              <a:rPr lang="en-US" sz="1050" dirty="0">
                <a:solidFill>
                  <a:srgbClr val="666666"/>
                </a:solidFill>
                <a:latin typeface="DM Mono" pitchFamily="34" charset="0"/>
                <a:ea typeface="DM Mono" pitchFamily="34" charset="-122"/>
                <a:cs typeface="DM Mono" pitchFamily="34" charset="-120"/>
              </a:rPr>
              <a:t>Transport choice</a:t>
            </a:r>
            <a:endParaRPr lang="en-US" sz="1050" dirty="0"/>
          </a:p>
        </p:txBody>
      </p:sp>
      <p:sp>
        <p:nvSpPr>
          <p:cNvPr id="26" name="Text 24"/>
          <p:cNvSpPr/>
          <p:nvPr/>
        </p:nvSpPr>
        <p:spPr>
          <a:xfrm>
            <a:off x="6553230" y="4038630"/>
            <a:ext cx="4724430" cy="857250"/>
          </a:xfrm>
          <a:prstGeom prst="rect">
            <a:avLst/>
          </a:prstGeom>
          <a:noFill/>
          <a:ln/>
        </p:spPr>
        <p:txBody>
          <a:bodyPr wrap="square" lIns="0" tIns="0" rIns="0" bIns="0" rtlCol="0" anchor="t"/>
          <a:lstStyle/>
          <a:p>
            <a:pPr algn="l" indent="0" marL="0">
              <a:lnSpc>
                <a:spcPct val="150000"/>
              </a:lnSpc>
              <a:buNone/>
            </a:pPr>
            <a:r>
              <a:rPr lang="en-US" sz="1275" dirty="0">
                <a:solidFill>
                  <a:srgbClr val="666666"/>
                </a:solidFill>
                <a:latin typeface="Inter" pitchFamily="34" charset="0"/>
                <a:ea typeface="Inter" pitchFamily="34" charset="-122"/>
                <a:cs typeface="Inter" pitchFamily="34" charset="-120"/>
              </a:rPr>
              <a:t>The two pillars sit close together. Public transport competes with the car here. In most municipalities the second number is far larger than the first.</a:t>
            </a:r>
            <a:endParaRPr lang="en-US" sz="1275" dirty="0"/>
          </a:p>
        </p:txBody>
      </p:sp>
      <p:sp>
        <p:nvSpPr>
          <p:cNvPr id="27" name="Shape 25"/>
          <p:cNvSpPr/>
          <p:nvPr/>
        </p:nvSpPr>
        <p:spPr>
          <a:xfrm>
            <a:off x="914400" y="4381530"/>
            <a:ext cx="4419570" cy="1219170"/>
          </a:xfrm>
          <a:prstGeom prst="roundRect">
            <a:avLst>
              <a:gd name="adj" fmla="val 6248"/>
            </a:avLst>
          </a:prstGeom>
          <a:solidFill>
            <a:srgbClr val="F0EDE8"/>
          </a:solidFill>
          <a:ln/>
        </p:spPr>
      </p:sp>
      <p:sp>
        <p:nvSpPr>
          <p:cNvPr id="28" name="Text 26"/>
          <p:cNvSpPr/>
          <p:nvPr/>
        </p:nvSpPr>
        <p:spPr>
          <a:xfrm>
            <a:off x="1143000" y="4381530"/>
            <a:ext cx="3962370" cy="1219170"/>
          </a:xfrm>
          <a:prstGeom prst="rect">
            <a:avLst/>
          </a:prstGeom>
          <a:noFill/>
          <a:ln/>
        </p:spPr>
        <p:txBody>
          <a:bodyPr wrap="square" lIns="0" tIns="0" rIns="0" bIns="0" rtlCol="0" anchor="ctr"/>
          <a:lstStyle/>
          <a:p>
            <a:pPr algn="l" indent="0" marL="0">
              <a:lnSpc>
                <a:spcPct val="170000"/>
              </a:lnSpc>
              <a:buNone/>
            </a:pPr>
            <a:r>
              <a:rPr lang="en-US" sz="1200" dirty="0">
                <a:solidFill>
                  <a:srgbClr val="1A1A1A"/>
                </a:solidFill>
                <a:latin typeface="DM Mono" pitchFamily="34" charset="0"/>
                <a:ea typeface="DM Mono" pitchFamily="34" charset="-122"/>
                <a:cs typeface="DM Mono" pitchFamily="34" charset="-120"/>
              </a:rPr>
              <a:t>378,295 residents · 465.87 km²</a:t>
            </a:r>
            <a:endParaRPr lang="en-US" sz="1200" dirty="0"/>
          </a:p>
          <a:p>
            <a:pPr algn="l" indent="0" marL="0">
              <a:lnSpc>
                <a:spcPct val="170000"/>
              </a:lnSpc>
              <a:buNone/>
            </a:pPr>
            <a:r>
              <a:rPr lang="en-US" sz="1200" dirty="0">
                <a:solidFill>
                  <a:srgbClr val="1A1A1A"/>
                </a:solidFill>
                <a:latin typeface="DM Mono" pitchFamily="34" charset="0"/>
                <a:ea typeface="DM Mono" pitchFamily="34" charset="-122"/>
                <a:cs typeface="DM Mono" pitchFamily="34" charset="-120"/>
              </a:rPr>
              <a:t>1,174 DKK per resident for public transport (2025)</a:t>
            </a:r>
            <a:endParaRPr lang="en-US" sz="1200" dirty="0"/>
          </a:p>
          <a:p>
            <a:pPr algn="l" indent="0" marL="0">
              <a:lnSpc>
                <a:spcPct val="170000"/>
              </a:lnSpc>
              <a:buNone/>
            </a:pPr>
            <a:r>
              <a:rPr lang="en-US" sz="1200" dirty="0">
                <a:solidFill>
                  <a:srgbClr val="1A1A1A"/>
                </a:solidFill>
                <a:latin typeface="DM Mono" pitchFamily="34" charset="0"/>
                <a:ea typeface="DM Mono" pitchFamily="34" charset="-122"/>
                <a:cs typeface="DM Mono" pitchFamily="34" charset="-120"/>
              </a:rPr>
              <a:t>Transport authority: Midttrafik</a:t>
            </a:r>
            <a:endParaRPr lang="en-US" sz="1200" dirty="0"/>
          </a:p>
        </p:txBody>
      </p:sp>
      <p:sp>
        <p:nvSpPr>
          <p:cNvPr id="29" name="Text 27"/>
          <p:cNvSpPr/>
          <p:nvPr/>
        </p:nvSpPr>
        <p:spPr>
          <a:xfrm>
            <a:off x="914400" y="575313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Edition 0.4.0 · 22 August 2026 · Data as of 2026-09-09</a:t>
            </a:r>
            <a:endParaRPr lang="en-US" sz="975" dirty="0"/>
          </a:p>
        </p:txBody>
      </p:sp>
      <p:sp>
        <p:nvSpPr>
          <p:cNvPr id="30" name="Shape 28"/>
          <p:cNvSpPr/>
          <p:nvPr/>
        </p:nvSpPr>
        <p:spPr>
          <a:xfrm>
            <a:off x="914400" y="6096030"/>
            <a:ext cx="10363170" cy="9510"/>
          </a:xfrm>
          <a:prstGeom prst="rect">
            <a:avLst/>
          </a:prstGeom>
          <a:solidFill>
            <a:srgbClr val="333333">
              <a:alpha val="25000"/>
            </a:srgbClr>
          </a:solidFill>
          <a:ln/>
        </p:spPr>
      </p:sp>
      <p:sp>
        <p:nvSpPr>
          <p:cNvPr id="31" name="Text 29"/>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32" name="Text 30"/>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10</a:t>
            </a:r>
            <a:endParaRPr lang="en-US" sz="9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Aarhus, live on the map</a:t>
            </a:r>
            <a:endParaRPr lang="en-US" sz="3000" dirty="0"/>
          </a:p>
        </p:txBody>
      </p:sp>
      <p:pic>
        <p:nvPicPr>
          <p:cNvPr id="3" name="Image 0" descr="preencoded.png">    </p:cNvPr>
          <p:cNvPicPr>
            <a:picLocks noChangeAspect="1"/>
          </p:cNvPicPr>
          <p:nvPr/>
        </p:nvPicPr>
        <p:blipFill>
          <a:blip r:embed="rId1"/>
          <a:srcRect l="0" r="0" t="0" b="0"/>
          <a:stretch/>
        </p:blipFill>
        <p:spPr>
          <a:xfrm>
            <a:off x="914400" y="1676370"/>
            <a:ext cx="10363170" cy="4038630"/>
          </a:xfrm>
          <a:prstGeom prst="rect">
            <a:avLst/>
          </a:prstGeom>
        </p:spPr>
      </p:pic>
      <p:sp>
        <p:nvSpPr>
          <p:cNvPr id="4" name="Shape 1"/>
          <p:cNvSpPr/>
          <p:nvPr/>
        </p:nvSpPr>
        <p:spPr>
          <a:xfrm>
            <a:off x="914400" y="5867430"/>
            <a:ext cx="3810030" cy="419070"/>
          </a:xfrm>
          <a:prstGeom prst="roundRect">
            <a:avLst>
              <a:gd name="adj" fmla="val 18176"/>
            </a:avLst>
          </a:prstGeom>
          <a:solidFill>
            <a:srgbClr val="F0EDE8"/>
          </a:solidFill>
          <a:ln/>
        </p:spPr>
      </p:sp>
      <p:sp>
        <p:nvSpPr>
          <p:cNvPr id="5" name="Text 2"/>
          <p:cNvSpPr/>
          <p:nvPr/>
        </p:nvSpPr>
        <p:spPr>
          <a:xfrm>
            <a:off x="1104870" y="5867430"/>
            <a:ext cx="3429000" cy="419070"/>
          </a:xfrm>
          <a:prstGeom prst="rect">
            <a:avLst/>
          </a:prstGeom>
          <a:noFill/>
          <a:ln/>
        </p:spPr>
        <p:txBody>
          <a:bodyPr wrap="square" lIns="0" tIns="0" rIns="0" bIns="0" rtlCol="0" anchor="ctr"/>
          <a:lstStyle/>
          <a:p>
            <a:pPr algn="l" indent="0" marL="0">
              <a:lnSpc>
                <a:spcPct val="130000"/>
              </a:lnSpc>
              <a:buNone/>
            </a:pPr>
            <a:r>
              <a:rPr lang="en-US" sz="1125" b="1" dirty="0">
                <a:solidFill>
                  <a:srgbClr val="1A1A1A"/>
                </a:solidFill>
                <a:latin typeface="DM Mono" pitchFamily="34" charset="0"/>
                <a:ea typeface="DM Mono" pitchFamily="34" charset="-122"/>
                <a:cs typeface="DM Mono" pitchFamily="34" charset="-120"/>
              </a:rPr>
              <a:t>→  How to read A–G</a:t>
            </a:r>
            <a:endParaRPr lang="en-US" sz="1125" dirty="0"/>
          </a:p>
        </p:txBody>
      </p:sp>
      <p:sp>
        <p:nvSpPr>
          <p:cNvPr id="6" name="Text 3"/>
          <p:cNvSpPr/>
          <p:nvPr/>
        </p:nvSpPr>
        <p:spPr>
          <a:xfrm>
            <a:off x="5029200" y="5867430"/>
            <a:ext cx="6248370" cy="41907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mobilitetsatlas.dk/en/kommune/aarhus  ·  CC BY-SA 4.0</a:t>
            </a:r>
            <a:endParaRPr lang="en-US" sz="9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How to read A–G</a:t>
            </a:r>
            <a:endParaRPr lang="en-US" sz="3000" dirty="0"/>
          </a:p>
        </p:txBody>
      </p:sp>
      <p:sp>
        <p:nvSpPr>
          <p:cNvPr id="3" name="Shape 1"/>
          <p:cNvSpPr/>
          <p:nvPr/>
        </p:nvSpPr>
        <p:spPr>
          <a:xfrm>
            <a:off x="914400" y="1638330"/>
            <a:ext cx="609630" cy="495330"/>
          </a:xfrm>
          <a:prstGeom prst="roundRect">
            <a:avLst>
              <a:gd name="adj" fmla="val 7698"/>
            </a:avLst>
          </a:prstGeom>
          <a:solidFill>
            <a:srgbClr val="1A9850"/>
          </a:solidFill>
          <a:ln/>
        </p:spPr>
      </p:sp>
      <p:sp>
        <p:nvSpPr>
          <p:cNvPr id="4" name="Text 2"/>
          <p:cNvSpPr/>
          <p:nvPr/>
        </p:nvSpPr>
        <p:spPr>
          <a:xfrm>
            <a:off x="914400" y="163833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1A1A1A"/>
                </a:solidFill>
                <a:latin typeface="DM Mono" pitchFamily="34" charset="0"/>
                <a:ea typeface="DM Mono" pitchFamily="34" charset="-122"/>
                <a:cs typeface="DM Mono" pitchFamily="34" charset="-120"/>
              </a:rPr>
              <a:t>A</a:t>
            </a:r>
            <a:endParaRPr lang="en-US" sz="1800" dirty="0"/>
          </a:p>
        </p:txBody>
      </p:sp>
      <p:sp>
        <p:nvSpPr>
          <p:cNvPr id="5" name="Text 3"/>
          <p:cNvSpPr/>
          <p:nvPr/>
        </p:nvSpPr>
        <p:spPr>
          <a:xfrm>
            <a:off x="1714500" y="163833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practically as much of everyday life as the car.</a:t>
            </a:r>
            <a:endParaRPr lang="en-US" sz="1275" dirty="0"/>
          </a:p>
        </p:txBody>
      </p:sp>
      <p:sp>
        <p:nvSpPr>
          <p:cNvPr id="6" name="Shape 4"/>
          <p:cNvSpPr/>
          <p:nvPr/>
        </p:nvSpPr>
        <p:spPr>
          <a:xfrm>
            <a:off x="914400" y="2247870"/>
            <a:ext cx="609630" cy="495330"/>
          </a:xfrm>
          <a:prstGeom prst="roundRect">
            <a:avLst>
              <a:gd name="adj" fmla="val 7698"/>
            </a:avLst>
          </a:prstGeom>
          <a:solidFill>
            <a:srgbClr val="66BD63"/>
          </a:solidFill>
          <a:ln/>
        </p:spPr>
      </p:sp>
      <p:sp>
        <p:nvSpPr>
          <p:cNvPr id="7" name="Text 5"/>
          <p:cNvSpPr/>
          <p:nvPr/>
        </p:nvSpPr>
        <p:spPr>
          <a:xfrm>
            <a:off x="914400" y="224787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1A1A1A"/>
                </a:solidFill>
                <a:latin typeface="DM Mono" pitchFamily="34" charset="0"/>
                <a:ea typeface="DM Mono" pitchFamily="34" charset="-122"/>
                <a:cs typeface="DM Mono" pitchFamily="34" charset="-120"/>
              </a:rPr>
              <a:t>B</a:t>
            </a:r>
            <a:endParaRPr lang="en-US" sz="1800" dirty="0"/>
          </a:p>
        </p:txBody>
      </p:sp>
      <p:sp>
        <p:nvSpPr>
          <p:cNvPr id="8" name="Text 6"/>
          <p:cNvSpPr/>
          <p:nvPr/>
        </p:nvSpPr>
        <p:spPr>
          <a:xfrm>
            <a:off x="1714500" y="224787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most of everyday life, close to what the car does.</a:t>
            </a:r>
            <a:endParaRPr lang="en-US" sz="1275" dirty="0"/>
          </a:p>
        </p:txBody>
      </p:sp>
      <p:sp>
        <p:nvSpPr>
          <p:cNvPr id="9" name="Shape 7"/>
          <p:cNvSpPr/>
          <p:nvPr/>
        </p:nvSpPr>
        <p:spPr>
          <a:xfrm>
            <a:off x="914400" y="2857500"/>
            <a:ext cx="609630" cy="495330"/>
          </a:xfrm>
          <a:prstGeom prst="roundRect">
            <a:avLst>
              <a:gd name="adj" fmla="val 7698"/>
            </a:avLst>
          </a:prstGeom>
          <a:solidFill>
            <a:srgbClr val="A6D96A"/>
          </a:solidFill>
          <a:ln/>
        </p:spPr>
      </p:sp>
      <p:sp>
        <p:nvSpPr>
          <p:cNvPr id="10" name="Text 8"/>
          <p:cNvSpPr/>
          <p:nvPr/>
        </p:nvSpPr>
        <p:spPr>
          <a:xfrm>
            <a:off x="914400" y="285750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1A1A1A"/>
                </a:solidFill>
                <a:latin typeface="DM Mono" pitchFamily="34" charset="0"/>
                <a:ea typeface="DM Mono" pitchFamily="34" charset="-122"/>
                <a:cs typeface="DM Mono" pitchFamily="34" charset="-120"/>
              </a:rPr>
              <a:t>C</a:t>
            </a:r>
            <a:endParaRPr lang="en-US" sz="1800" dirty="0"/>
          </a:p>
        </p:txBody>
      </p:sp>
      <p:sp>
        <p:nvSpPr>
          <p:cNvPr id="11" name="Text 9"/>
          <p:cNvSpPr/>
          <p:nvPr/>
        </p:nvSpPr>
        <p:spPr>
          <a:xfrm>
            <a:off x="1714500" y="285750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a large part of everyday life, helped by short distances.</a:t>
            </a:r>
            <a:endParaRPr lang="en-US" sz="1275" dirty="0"/>
          </a:p>
        </p:txBody>
      </p:sp>
      <p:sp>
        <p:nvSpPr>
          <p:cNvPr id="12" name="Shape 10"/>
          <p:cNvSpPr/>
          <p:nvPr/>
        </p:nvSpPr>
        <p:spPr>
          <a:xfrm>
            <a:off x="914400" y="3467130"/>
            <a:ext cx="609630" cy="495330"/>
          </a:xfrm>
          <a:prstGeom prst="roundRect">
            <a:avLst>
              <a:gd name="adj" fmla="val 7698"/>
            </a:avLst>
          </a:prstGeom>
          <a:solidFill>
            <a:srgbClr val="FEE08B"/>
          </a:solidFill>
          <a:ln/>
        </p:spPr>
      </p:sp>
      <p:sp>
        <p:nvSpPr>
          <p:cNvPr id="13" name="Text 11"/>
          <p:cNvSpPr/>
          <p:nvPr/>
        </p:nvSpPr>
        <p:spPr>
          <a:xfrm>
            <a:off x="914400" y="346713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1A1A1A"/>
                </a:solidFill>
                <a:latin typeface="DM Mono" pitchFamily="34" charset="0"/>
                <a:ea typeface="DM Mono" pitchFamily="34" charset="-122"/>
                <a:cs typeface="DM Mono" pitchFamily="34" charset="-120"/>
              </a:rPr>
              <a:t>D</a:t>
            </a:r>
            <a:endParaRPr lang="en-US" sz="1800" dirty="0"/>
          </a:p>
        </p:txBody>
      </p:sp>
      <p:sp>
        <p:nvSpPr>
          <p:cNvPr id="14" name="Text 12"/>
          <p:cNvSpPr/>
          <p:nvPr/>
        </p:nvSpPr>
        <p:spPr>
          <a:xfrm>
            <a:off x="1714500" y="346713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part of everyday life, but far from what the car reaches.</a:t>
            </a:r>
            <a:endParaRPr lang="en-US" sz="1275" dirty="0"/>
          </a:p>
        </p:txBody>
      </p:sp>
      <p:sp>
        <p:nvSpPr>
          <p:cNvPr id="15" name="Shape 13"/>
          <p:cNvSpPr/>
          <p:nvPr/>
        </p:nvSpPr>
        <p:spPr>
          <a:xfrm>
            <a:off x="914400" y="4076670"/>
            <a:ext cx="609630" cy="495330"/>
          </a:xfrm>
          <a:prstGeom prst="roundRect">
            <a:avLst>
              <a:gd name="adj" fmla="val 7698"/>
            </a:avLst>
          </a:prstGeom>
          <a:solidFill>
            <a:srgbClr val="F46D43"/>
          </a:solidFill>
          <a:ln/>
        </p:spPr>
      </p:sp>
      <p:sp>
        <p:nvSpPr>
          <p:cNvPr id="16" name="Text 14"/>
          <p:cNvSpPr/>
          <p:nvPr/>
        </p:nvSpPr>
        <p:spPr>
          <a:xfrm>
            <a:off x="914400" y="407667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1A1A1A"/>
                </a:solidFill>
                <a:latin typeface="DM Mono" pitchFamily="34" charset="0"/>
                <a:ea typeface="DM Mono" pitchFamily="34" charset="-122"/>
                <a:cs typeface="DM Mono" pitchFamily="34" charset="-120"/>
              </a:rPr>
              <a:t>E</a:t>
            </a:r>
            <a:endParaRPr lang="en-US" sz="1800" dirty="0"/>
          </a:p>
        </p:txBody>
      </p:sp>
      <p:sp>
        <p:nvSpPr>
          <p:cNvPr id="17" name="Text 15"/>
          <p:cNvSpPr/>
          <p:nvPr/>
        </p:nvSpPr>
        <p:spPr>
          <a:xfrm>
            <a:off x="1714500" y="407667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only a smaller part; the car reaches clearly further.</a:t>
            </a:r>
            <a:endParaRPr lang="en-US" sz="1275" dirty="0"/>
          </a:p>
        </p:txBody>
      </p:sp>
      <p:sp>
        <p:nvSpPr>
          <p:cNvPr id="18" name="Shape 16"/>
          <p:cNvSpPr/>
          <p:nvPr/>
        </p:nvSpPr>
        <p:spPr>
          <a:xfrm>
            <a:off x="914400" y="4686300"/>
            <a:ext cx="609630" cy="495330"/>
          </a:xfrm>
          <a:prstGeom prst="roundRect">
            <a:avLst>
              <a:gd name="adj" fmla="val 7698"/>
            </a:avLst>
          </a:prstGeom>
          <a:solidFill>
            <a:srgbClr val="D73027"/>
          </a:solidFill>
          <a:ln/>
        </p:spPr>
      </p:sp>
      <p:sp>
        <p:nvSpPr>
          <p:cNvPr id="19" name="Text 17"/>
          <p:cNvSpPr/>
          <p:nvPr/>
        </p:nvSpPr>
        <p:spPr>
          <a:xfrm>
            <a:off x="914400" y="468630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F5F3EF"/>
                </a:solidFill>
                <a:latin typeface="DM Mono" pitchFamily="34" charset="0"/>
                <a:ea typeface="DM Mono" pitchFamily="34" charset="-122"/>
                <a:cs typeface="DM Mono" pitchFamily="34" charset="-120"/>
              </a:rPr>
              <a:t>F</a:t>
            </a:r>
            <a:endParaRPr lang="en-US" sz="1800" dirty="0"/>
          </a:p>
        </p:txBody>
      </p:sp>
      <p:sp>
        <p:nvSpPr>
          <p:cNvPr id="20" name="Text 18"/>
          <p:cNvSpPr/>
          <p:nvPr/>
        </p:nvSpPr>
        <p:spPr>
          <a:xfrm>
            <a:off x="1714500" y="468630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few everyday journeys; the car is in practice necessary.</a:t>
            </a:r>
            <a:endParaRPr lang="en-US" sz="1275" dirty="0"/>
          </a:p>
        </p:txBody>
      </p:sp>
      <p:sp>
        <p:nvSpPr>
          <p:cNvPr id="21" name="Shape 19"/>
          <p:cNvSpPr/>
          <p:nvPr/>
        </p:nvSpPr>
        <p:spPr>
          <a:xfrm>
            <a:off x="914400" y="5295930"/>
            <a:ext cx="609630" cy="495330"/>
          </a:xfrm>
          <a:prstGeom prst="roundRect">
            <a:avLst>
              <a:gd name="adj" fmla="val 7698"/>
            </a:avLst>
          </a:prstGeom>
          <a:solidFill>
            <a:srgbClr val="A50026"/>
          </a:solidFill>
          <a:ln/>
        </p:spPr>
      </p:sp>
      <p:sp>
        <p:nvSpPr>
          <p:cNvPr id="22" name="Text 20"/>
          <p:cNvSpPr/>
          <p:nvPr/>
        </p:nvSpPr>
        <p:spPr>
          <a:xfrm>
            <a:off x="914400" y="5295930"/>
            <a:ext cx="609630" cy="495330"/>
          </a:xfrm>
          <a:prstGeom prst="rect">
            <a:avLst/>
          </a:prstGeom>
          <a:noFill/>
          <a:ln/>
        </p:spPr>
        <p:txBody>
          <a:bodyPr wrap="square" lIns="0" tIns="0" rIns="0" bIns="0" rtlCol="0" anchor="ctr"/>
          <a:lstStyle/>
          <a:p>
            <a:pPr algn="ctr" indent="0" marL="0">
              <a:lnSpc>
                <a:spcPct val="100000"/>
              </a:lnSpc>
              <a:buNone/>
            </a:pPr>
            <a:r>
              <a:rPr lang="en-US" sz="1800" b="1" dirty="0">
                <a:solidFill>
                  <a:srgbClr val="F5F3EF"/>
                </a:solidFill>
                <a:latin typeface="DM Mono" pitchFamily="34" charset="0"/>
                <a:ea typeface="DM Mono" pitchFamily="34" charset="-122"/>
                <a:cs typeface="DM Mono" pitchFamily="34" charset="-120"/>
              </a:rPr>
              <a:t>G</a:t>
            </a:r>
            <a:endParaRPr lang="en-US" sz="1800" dirty="0"/>
          </a:p>
        </p:txBody>
      </p:sp>
      <p:sp>
        <p:nvSpPr>
          <p:cNvPr id="23" name="Text 21"/>
          <p:cNvSpPr/>
          <p:nvPr/>
        </p:nvSpPr>
        <p:spPr>
          <a:xfrm>
            <a:off x="1714500" y="5295930"/>
            <a:ext cx="9563070" cy="495330"/>
          </a:xfrm>
          <a:prstGeom prst="rect">
            <a:avLst/>
          </a:prstGeom>
          <a:noFill/>
          <a:ln/>
        </p:spPr>
        <p:txBody>
          <a:bodyPr wrap="square" lIns="0" tIns="0" rIns="0" bIns="0" rtlCol="0" anchor="ctr"/>
          <a:lstStyle/>
          <a:p>
            <a:pPr algn="l" indent="0" marL="0">
              <a:lnSpc>
                <a:spcPct val="140000"/>
              </a:lnSpc>
              <a:buNone/>
            </a:pPr>
            <a:r>
              <a:rPr lang="en-US" sz="1275" dirty="0">
                <a:solidFill>
                  <a:srgbClr val="1A1A1A"/>
                </a:solidFill>
                <a:latin typeface="Inter" pitchFamily="34" charset="0"/>
                <a:ea typeface="Inter" pitchFamily="34" charset="-122"/>
                <a:cs typeface="Inter" pitchFamily="34" charset="-120"/>
              </a:rPr>
              <a:t>Walking and public transport cover almost none of everyday life; the car is the only real option.</a:t>
            </a:r>
            <a:endParaRPr lang="en-US" sz="1275" dirty="0"/>
          </a:p>
        </p:txBody>
      </p:sp>
      <p:sp>
        <p:nvSpPr>
          <p:cNvPr id="24" name="Text 22"/>
          <p:cNvSpPr/>
          <p:nvPr/>
        </p:nvSpPr>
        <p:spPr>
          <a:xfrm>
            <a:off x="914400" y="6000750"/>
            <a:ext cx="6667530" cy="266730"/>
          </a:xfrm>
          <a:prstGeom prst="rect">
            <a:avLst/>
          </a:prstGeom>
          <a:noFill/>
          <a:ln/>
        </p:spPr>
        <p:txBody>
          <a:bodyPr wrap="square" lIns="0" tIns="0" rIns="0" bIns="0" rtlCol="0" anchor="ctr"/>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  back</a:t>
            </a:r>
            <a:endParaRPr lang="en-US" sz="1050" dirty="0"/>
          </a:p>
        </p:txBody>
      </p:sp>
      <p:sp>
        <p:nvSpPr>
          <p:cNvPr id="25" name="Shape 23"/>
          <p:cNvSpPr/>
          <p:nvPr/>
        </p:nvSpPr>
        <p:spPr>
          <a:xfrm>
            <a:off x="0" y="0"/>
            <a:ext cx="12191970" cy="6858000"/>
          </a:xfrm>
          <a:prstGeom prst="rect">
            <a:avLst/>
          </a:prstGeom>
          <a:solidFill>
            <a:srgbClr val="000000">
              <a:alpha val="0"/>
            </a:srgbClr>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Compare municipalities</a:t>
            </a:r>
            <a:endParaRPr lang="en-US" sz="3000" dirty="0"/>
          </a:p>
        </p:txBody>
      </p:sp>
      <p:graphicFrame>
        <p:nvGraphicFramePr>
          <p:cNvPr id="3" name="Chart 0" descr=""/>
          <p:cNvGraphicFramePr/>
          <p:nvPr/>
        </p:nvGraphicFramePr>
        <p:xfrm>
          <a:off x="914400" y="1752630"/>
          <a:ext cx="6248370" cy="37719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914400" y="5562570"/>
            <a:ext cx="6248370" cy="247620"/>
          </a:xfrm>
          <a:prstGeom prst="rect">
            <a:avLst/>
          </a:prstGeom>
          <a:noFill/>
          <a:ln/>
        </p:spPr>
        <p:txBody>
          <a:bodyPr wrap="square" lIns="0" tIns="0" rIns="0" bIns="0" rtlCol="0" anchor="t"/>
          <a:lstStyle/>
          <a:p>
            <a:pPr algn="ctr" indent="0" marL="0">
              <a:lnSpc>
                <a:spcPct val="120000"/>
              </a:lnSpc>
              <a:buNone/>
            </a:pPr>
            <a:r>
              <a:rPr lang="en-US" sz="900" dirty="0">
                <a:solidFill>
                  <a:srgbClr val="666666"/>
                </a:solidFill>
                <a:latin typeface="DM Mono" pitchFamily="34" charset="0"/>
                <a:ea typeface="DM Mono" pitchFamily="34" charset="-122"/>
                <a:cs typeface="DM Mono" pitchFamily="34" charset="-120"/>
              </a:rPr>
              <a:t>Families with a car (%)  →   ·   ↑ mobility freedom</a:t>
            </a:r>
            <a:endParaRPr lang="en-US" sz="900" dirty="0"/>
          </a:p>
        </p:txBody>
      </p:sp>
      <p:sp>
        <p:nvSpPr>
          <p:cNvPr id="5" name="Text 2"/>
          <p:cNvSpPr/>
          <p:nvPr/>
        </p:nvSpPr>
        <p:spPr>
          <a:xfrm>
            <a:off x="7467630" y="1752630"/>
            <a:ext cx="3810030" cy="723930"/>
          </a:xfrm>
          <a:prstGeom prst="rect">
            <a:avLst/>
          </a:prstGeom>
          <a:noFill/>
          <a:ln/>
        </p:spPr>
        <p:txBody>
          <a:bodyPr wrap="square" lIns="0" tIns="0" rIns="0" bIns="0" rtlCol="0" anchor="t"/>
          <a:lstStyle/>
          <a:p>
            <a:pPr algn="l" indent="0" marL="0">
              <a:lnSpc>
                <a:spcPct val="100000"/>
              </a:lnSpc>
              <a:buNone/>
            </a:pPr>
            <a:r>
              <a:rPr lang="en-US" sz="4200" b="1" dirty="0">
                <a:solidFill>
                  <a:srgbClr val="1A1A1A"/>
                </a:solidFill>
                <a:latin typeface="Playfair Display" pitchFamily="34" charset="0"/>
                <a:ea typeface="Playfair Display" pitchFamily="34" charset="-122"/>
                <a:cs typeface="Playfair Display" pitchFamily="34" charset="-120"/>
              </a:rPr>
              <a:t>r = −0.664</a:t>
            </a:r>
            <a:endParaRPr lang="en-US" sz="4200" dirty="0"/>
          </a:p>
        </p:txBody>
      </p:sp>
      <p:sp>
        <p:nvSpPr>
          <p:cNvPr id="6" name="Text 3"/>
          <p:cNvSpPr/>
          <p:nvPr/>
        </p:nvSpPr>
        <p:spPr>
          <a:xfrm>
            <a:off x="7467630" y="2514600"/>
            <a:ext cx="3810030" cy="266730"/>
          </a:xfrm>
          <a:prstGeom prst="rect">
            <a:avLst/>
          </a:prstGeom>
          <a:noFill/>
          <a:ln/>
        </p:spPr>
        <p:txBody>
          <a:bodyPr wrap="square" lIns="0" tIns="0" rIns="0" bIns="0" rtlCol="0" anchor="t"/>
          <a:lstStyle/>
          <a:p>
            <a:pPr algn="l" indent="0" marL="0">
              <a:lnSpc>
                <a:spcPct val="130000"/>
              </a:lnSpc>
              <a:buNone/>
            </a:pPr>
            <a:r>
              <a:rPr lang="en-US" sz="1050" dirty="0">
                <a:solidFill>
                  <a:srgbClr val="666666"/>
                </a:solidFill>
                <a:latin typeface="DM Mono" pitchFamily="34" charset="0"/>
                <a:ea typeface="DM Mono" pitchFamily="34" charset="-122"/>
                <a:cs typeface="DM Mono" pitchFamily="34" charset="-120"/>
              </a:rPr>
              <a:t>n = 98 municipalities</a:t>
            </a:r>
            <a:endParaRPr lang="en-US" sz="1050" dirty="0"/>
          </a:p>
        </p:txBody>
      </p:sp>
      <p:sp>
        <p:nvSpPr>
          <p:cNvPr id="7" name="Text 4"/>
          <p:cNvSpPr/>
          <p:nvPr/>
        </p:nvSpPr>
        <p:spPr>
          <a:xfrm>
            <a:off x="7467630" y="2971800"/>
            <a:ext cx="3810030" cy="2286000"/>
          </a:xfrm>
          <a:prstGeom prst="rect">
            <a:avLst/>
          </a:prstGeom>
          <a:noFill/>
          <a:ln/>
        </p:spPr>
        <p:txBody>
          <a:bodyPr wrap="square" lIns="0" tIns="0" rIns="0" bIns="0" rtlCol="0" anchor="t"/>
          <a:lstStyle/>
          <a:p>
            <a:pPr algn="l" indent="0" marL="0">
              <a:lnSpc>
                <a:spcPct val="155000"/>
              </a:lnSpc>
              <a:buNone/>
            </a:pPr>
            <a:r>
              <a:rPr lang="en-US" sz="1200" dirty="0">
                <a:solidFill>
                  <a:srgbClr val="666666"/>
                </a:solidFill>
                <a:latin typeface="Inter" pitchFamily="34" charset="0"/>
                <a:ea typeface="Inter" pitchFamily="34" charset="-122"/>
                <a:cs typeface="Inter" pitchFamily="34" charset="-120"/>
              </a:rPr>
              <a:t>Each dot is one municipality, coloured by its grade. Vertical: mobility freedom. Horizontal: the share of families with a car.</a:t>
            </a:r>
            <a:endParaRPr lang="en-US" sz="1200" dirty="0"/>
          </a:p>
          <a:p>
            <a:pPr algn="l" indent="0" marL="0">
              <a:lnSpc>
                <a:spcPct val="155000"/>
              </a:lnSpc>
              <a:buNone/>
            </a:pPr>
            <a:r>
              <a:rPr lang="en-US" sz="1200" dirty="0">
                <a:solidFill>
                  <a:srgbClr val="666666"/>
                </a:solidFill>
                <a:latin typeface="Inter" pitchFamily="34" charset="0"/>
                <a:ea typeface="Inter" pitchFamily="34" charset="-122"/>
                <a:cs typeface="Inter" pitchFamily="34" charset="-120"/>
              </a:rPr>
              <a:t>Where public transport reaches less, more families keep a car. The spread at any given level is wide, and that spread is where policy lives.</a:t>
            </a:r>
            <a:endParaRPr lang="en-US" sz="1200" dirty="0"/>
          </a:p>
          <a:p>
            <a:pPr algn="l" indent="0" marL="0">
              <a:lnSpc>
                <a:spcPct val="155000"/>
              </a:lnSpc>
              <a:buNone/>
            </a:pPr>
            <a:r>
              <a:rPr lang="en-US" sz="1200" dirty="0">
                <a:solidFill>
                  <a:srgbClr val="666666"/>
                </a:solidFill>
                <a:latin typeface="Inter" pitchFamily="34" charset="0"/>
                <a:ea typeface="Inter" pitchFamily="34" charset="-122"/>
                <a:cs typeface="Inter" pitchFamily="34" charset="-120"/>
              </a:rPr>
              <a:t>A pattern between two numbers is not a cause.</a:t>
            </a:r>
            <a:endParaRPr lang="en-US" sz="1200" dirty="0"/>
          </a:p>
        </p:txBody>
      </p:sp>
      <p:sp>
        <p:nvSpPr>
          <p:cNvPr id="8" name="Shape 5"/>
          <p:cNvSpPr/>
          <p:nvPr/>
        </p:nvSpPr>
        <p:spPr>
          <a:xfrm>
            <a:off x="7467630" y="5410230"/>
            <a:ext cx="3810030" cy="419070"/>
          </a:xfrm>
          <a:prstGeom prst="roundRect">
            <a:avLst>
              <a:gd name="adj" fmla="val 18176"/>
            </a:avLst>
          </a:prstGeom>
          <a:solidFill>
            <a:srgbClr val="F0EDE8"/>
          </a:solidFill>
          <a:ln/>
        </p:spPr>
      </p:sp>
      <p:sp>
        <p:nvSpPr>
          <p:cNvPr id="9" name="Text 6"/>
          <p:cNvSpPr/>
          <p:nvPr/>
        </p:nvSpPr>
        <p:spPr>
          <a:xfrm>
            <a:off x="7658100" y="5410230"/>
            <a:ext cx="3429000" cy="419070"/>
          </a:xfrm>
          <a:prstGeom prst="rect">
            <a:avLst/>
          </a:prstGeom>
          <a:noFill/>
          <a:ln/>
        </p:spPr>
        <p:txBody>
          <a:bodyPr wrap="square" lIns="0" tIns="0" rIns="0" bIns="0" rtlCol="0" anchor="ctr"/>
          <a:lstStyle/>
          <a:p>
            <a:pPr algn="l" indent="0" marL="0">
              <a:lnSpc>
                <a:spcPct val="130000"/>
              </a:lnSpc>
              <a:buNone/>
            </a:pPr>
            <a:r>
              <a:rPr lang="en-US" sz="1125" b="1" dirty="0">
                <a:solidFill>
                  <a:srgbClr val="1A1A1A"/>
                </a:solidFill>
                <a:latin typeface="DM Mono" pitchFamily="34" charset="0"/>
                <a:ea typeface="DM Mono" pitchFamily="34" charset="-122"/>
                <a:cs typeface="DM Mono" pitchFamily="34" charset="-120"/>
              </a:rPr>
              <a:t>→  Every measure on the site</a:t>
            </a:r>
            <a:endParaRPr lang="en-US" sz="1125" dirty="0"/>
          </a:p>
        </p:txBody>
      </p:sp>
      <p:sp>
        <p:nvSpPr>
          <p:cNvPr id="10" name="Text 7"/>
          <p:cNvSpPr/>
          <p:nvPr/>
        </p:nvSpPr>
        <p:spPr>
          <a:xfrm>
            <a:off x="914400" y="588645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DST families with a car, 2026 · Edition 0.4.0 · 22 August 2026 · Data as of 2026-09-09</a:t>
            </a:r>
            <a:endParaRPr lang="en-US" sz="9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Explore, live</a:t>
            </a:r>
            <a:endParaRPr lang="en-US" sz="3000" dirty="0"/>
          </a:p>
        </p:txBody>
      </p:sp>
      <p:pic>
        <p:nvPicPr>
          <p:cNvPr id="3" name="Image 0" descr="preencoded.png">    </p:cNvPr>
          <p:cNvPicPr>
            <a:picLocks noChangeAspect="1"/>
          </p:cNvPicPr>
          <p:nvPr/>
        </p:nvPicPr>
        <p:blipFill>
          <a:blip r:embed="rId1"/>
          <a:srcRect l="0" r="0" t="0" b="0"/>
          <a:stretch/>
        </p:blipFill>
        <p:spPr>
          <a:xfrm>
            <a:off x="914400" y="1676370"/>
            <a:ext cx="10363170" cy="4343400"/>
          </a:xfrm>
          <a:prstGeom prst="rect">
            <a:avLst/>
          </a:prstGeom>
        </p:spPr>
      </p:pic>
      <p:sp>
        <p:nvSpPr>
          <p:cNvPr id="4" name="Text 1"/>
          <p:cNvSpPr/>
          <p:nvPr/>
        </p:nvSpPr>
        <p:spPr>
          <a:xfrm>
            <a:off x="914400" y="6153180"/>
            <a:ext cx="1036317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mobilitetsatlas.dk/en/udforsk  ·  ←  back</a:t>
            </a:r>
            <a:endParaRPr lang="en-US" sz="975" dirty="0"/>
          </a:p>
        </p:txBody>
      </p:sp>
      <p:sp>
        <p:nvSpPr>
          <p:cNvPr id="5" name="Shape 2"/>
          <p:cNvSpPr/>
          <p:nvPr/>
        </p:nvSpPr>
        <p:spPr>
          <a:xfrm>
            <a:off x="0" y="6096030"/>
            <a:ext cx="12191970" cy="761970"/>
          </a:xfrm>
          <a:prstGeom prst="rect">
            <a:avLst/>
          </a:prstGeom>
          <a:solidFill>
            <a:srgbClr val="000000">
              <a:alpha val="0"/>
            </a:srgbClr>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914400" y="1600200"/>
            <a:ext cx="10363170" cy="4133820"/>
          </a:xfrm>
          <a:prstGeom prst="rect">
            <a:avLst/>
          </a:prstGeom>
        </p:spPr>
      </p:pic>
      <p:sp>
        <p:nvSpPr>
          <p:cNvPr id="3"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F5F3EF"/>
                </a:solidFill>
                <a:latin typeface="Playfair Display" pitchFamily="34" charset="0"/>
                <a:ea typeface="Playfair Display" pitchFamily="34" charset="-122"/>
                <a:cs typeface="Playfair Display" pitchFamily="34" charset="-120"/>
              </a:rPr>
              <a:t>København, at street level</a:t>
            </a:r>
            <a:endParaRPr lang="en-US" sz="3000" dirty="0"/>
          </a:p>
        </p:txBody>
      </p:sp>
      <p:sp>
        <p:nvSpPr>
          <p:cNvPr id="4" name="Text 1"/>
          <p:cNvSpPr/>
          <p:nvPr/>
        </p:nvSpPr>
        <p:spPr>
          <a:xfrm>
            <a:off x="914400" y="5886450"/>
            <a:ext cx="6667530" cy="533370"/>
          </a:xfrm>
          <a:prstGeom prst="rect">
            <a:avLst/>
          </a:prstGeom>
          <a:noFill/>
          <a:ln/>
        </p:spPr>
        <p:txBody>
          <a:bodyPr wrap="square" lIns="0" tIns="0" rIns="0" bIns="0" rtlCol="0" anchor="t"/>
          <a:lstStyle/>
          <a:p>
            <a:pPr algn="l" indent="0" marL="0">
              <a:lnSpc>
                <a:spcPct val="145000"/>
              </a:lnSpc>
              <a:buNone/>
            </a:pPr>
            <a:r>
              <a:rPr lang="en-US" sz="1125" dirty="0">
                <a:solidFill>
                  <a:srgbClr val="999999"/>
                </a:solidFill>
                <a:latin typeface="Inter" pitchFamily="34" charset="0"/>
                <a:ea typeface="Inter" pitchFamily="34" charset="-122"/>
                <a:cs typeface="Inter" pitchFamily="34" charset="-120"/>
              </a:rPr>
              <a:t>This map is live. Drag it, zoom in, and the buildings rise as the day's scheduled services move across them.</a:t>
            </a:r>
            <a:endParaRPr lang="en-US" sz="1125" dirty="0"/>
          </a:p>
        </p:txBody>
      </p:sp>
      <p:sp>
        <p:nvSpPr>
          <p:cNvPr id="5" name="Text 2"/>
          <p:cNvSpPr/>
          <p:nvPr/>
        </p:nvSpPr>
        <p:spPr>
          <a:xfrm>
            <a:off x="7734270" y="5886450"/>
            <a:ext cx="3543300" cy="533370"/>
          </a:xfrm>
          <a:prstGeom prst="rect">
            <a:avLst/>
          </a:prstGeom>
          <a:noFill/>
          <a:ln/>
        </p:spPr>
        <p:txBody>
          <a:bodyPr wrap="square" lIns="0" tIns="0" rIns="0" bIns="0" rtlCol="0" anchor="t"/>
          <a:lstStyle/>
          <a:p>
            <a:pPr algn="r" indent="0" marL="0">
              <a:lnSpc>
                <a:spcPct val="150000"/>
              </a:lnSpc>
              <a:buNone/>
            </a:pPr>
            <a:r>
              <a:rPr lang="en-US" sz="975" dirty="0">
                <a:solidFill>
                  <a:srgbClr val="999999"/>
                </a:solidFill>
                <a:latin typeface="DM Mono" pitchFamily="34" charset="0"/>
                <a:ea typeface="DM Mono" pitchFamily="34" charset="-122"/>
                <a:cs typeface="DM Mono" pitchFamily="34" charset="-120"/>
              </a:rPr>
              <a:t>staging.mobilitetsatlas.dk</a:t>
            </a:r>
            <a:endParaRPr lang="en-US" sz="975" dirty="0"/>
          </a:p>
          <a:p>
            <a:pPr algn="r" indent="0" marL="0">
              <a:lnSpc>
                <a:spcPct val="150000"/>
              </a:lnSpc>
              <a:buNone/>
            </a:pPr>
            <a:r>
              <a:rPr lang="en-US" sz="975" dirty="0">
                <a:solidFill>
                  <a:srgbClr val="999999"/>
                </a:solidFill>
                <a:latin typeface="DM Mono" pitchFamily="34" charset="0"/>
                <a:ea typeface="DM Mono" pitchFamily="34" charset="-122"/>
                <a:cs typeface="DM Mono" pitchFamily="34" charset="-120"/>
              </a:rPr>
              <a:t>planned timetable · not live vehicles</a:t>
            </a:r>
            <a:endParaRPr lang="en-US" sz="9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914400" y="685800"/>
            <a:ext cx="10363170" cy="800100"/>
          </a:xfrm>
          <a:prstGeom prst="rect">
            <a:avLst/>
          </a:prstGeom>
          <a:noFill/>
          <a:ln/>
        </p:spPr>
        <p:txBody>
          <a:bodyPr wrap="square" lIns="0" tIns="0" rIns="0" bIns="0" rtlCol="0" anchor="ctr"/>
          <a:lstStyle/>
          <a:p>
            <a:pPr algn="l" indent="0" marL="0">
              <a:lnSpc>
                <a:spcPct val="110000"/>
              </a:lnSpc>
              <a:buNone/>
            </a:pPr>
            <a:r>
              <a:rPr lang="en-US" sz="3000" b="1" dirty="0">
                <a:solidFill>
                  <a:srgbClr val="1A1A1A"/>
                </a:solidFill>
                <a:latin typeface="Playfair Display" pitchFamily="34" charset="0"/>
                <a:ea typeface="Playfair Display" pitchFamily="34" charset="-122"/>
                <a:cs typeface="Playfair Display" pitchFamily="34" charset="-120"/>
              </a:rPr>
              <a:t>What moves the grade</a:t>
            </a:r>
            <a:endParaRPr lang="en-US" sz="3000" dirty="0"/>
          </a:p>
        </p:txBody>
      </p:sp>
      <p:sp>
        <p:nvSpPr>
          <p:cNvPr id="3" name="Shape 1"/>
          <p:cNvSpPr/>
          <p:nvPr/>
        </p:nvSpPr>
        <p:spPr>
          <a:xfrm>
            <a:off x="914400" y="1866930"/>
            <a:ext cx="38130" cy="800100"/>
          </a:xfrm>
          <a:prstGeom prst="rect">
            <a:avLst/>
          </a:prstGeom>
          <a:solidFill>
            <a:srgbClr val="4A7C59"/>
          </a:solidFill>
          <a:ln/>
        </p:spPr>
      </p:sp>
      <p:sp>
        <p:nvSpPr>
          <p:cNvPr id="4" name="Text 2"/>
          <p:cNvSpPr/>
          <p:nvPr/>
        </p:nvSpPr>
        <p:spPr>
          <a:xfrm>
            <a:off x="1143000" y="180978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Shorter travel times</a:t>
            </a:r>
            <a:endParaRPr lang="en-US" sz="1575" dirty="0"/>
          </a:p>
        </p:txBody>
      </p:sp>
      <p:sp>
        <p:nvSpPr>
          <p:cNvPr id="5" name="Text 3"/>
          <p:cNvSpPr/>
          <p:nvPr/>
        </p:nvSpPr>
        <p:spPr>
          <a:xfrm>
            <a:off x="1143000" y="219072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to everyday destinations. The most direct lever there is.</a:t>
            </a:r>
            <a:endParaRPr lang="en-US" sz="1200" dirty="0"/>
          </a:p>
        </p:txBody>
      </p:sp>
      <p:sp>
        <p:nvSpPr>
          <p:cNvPr id="6" name="Shape 4"/>
          <p:cNvSpPr/>
          <p:nvPr/>
        </p:nvSpPr>
        <p:spPr>
          <a:xfrm>
            <a:off x="6248370" y="1866930"/>
            <a:ext cx="38130" cy="800100"/>
          </a:xfrm>
          <a:prstGeom prst="rect">
            <a:avLst/>
          </a:prstGeom>
          <a:solidFill>
            <a:srgbClr val="4A7C59"/>
          </a:solidFill>
          <a:ln/>
        </p:spPr>
      </p:sp>
      <p:sp>
        <p:nvSpPr>
          <p:cNvPr id="7" name="Text 5"/>
          <p:cNvSpPr/>
          <p:nvPr/>
        </p:nvSpPr>
        <p:spPr>
          <a:xfrm>
            <a:off x="6476970" y="180978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Fewer or faster interchanges</a:t>
            </a:r>
            <a:endParaRPr lang="en-US" sz="1575" dirty="0"/>
          </a:p>
        </p:txBody>
      </p:sp>
      <p:sp>
        <p:nvSpPr>
          <p:cNvPr id="8" name="Text 6"/>
          <p:cNvSpPr/>
          <p:nvPr/>
        </p:nvSpPr>
        <p:spPr>
          <a:xfrm>
            <a:off x="6476970" y="219072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a connection saved counts twice: once each way.</a:t>
            </a:r>
            <a:endParaRPr lang="en-US" sz="1200" dirty="0"/>
          </a:p>
        </p:txBody>
      </p:sp>
      <p:sp>
        <p:nvSpPr>
          <p:cNvPr id="9" name="Shape 7"/>
          <p:cNvSpPr/>
          <p:nvPr/>
        </p:nvSpPr>
        <p:spPr>
          <a:xfrm>
            <a:off x="914400" y="3200400"/>
            <a:ext cx="38130" cy="800100"/>
          </a:xfrm>
          <a:prstGeom prst="rect">
            <a:avLst/>
          </a:prstGeom>
          <a:solidFill>
            <a:srgbClr val="4A7C59"/>
          </a:solidFill>
          <a:ln/>
        </p:spPr>
      </p:sp>
      <p:sp>
        <p:nvSpPr>
          <p:cNvPr id="10" name="Text 8"/>
          <p:cNvSpPr/>
          <p:nvPr/>
        </p:nvSpPr>
        <p:spPr>
          <a:xfrm>
            <a:off x="1143000" y="314325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Service where there was none</a:t>
            </a:r>
            <a:endParaRPr lang="en-US" sz="1575" dirty="0"/>
          </a:p>
        </p:txBody>
      </p:sp>
      <p:sp>
        <p:nvSpPr>
          <p:cNvPr id="11" name="Text 9"/>
          <p:cNvSpPr/>
          <p:nvPr/>
        </p:nvSpPr>
        <p:spPr>
          <a:xfrm>
            <a:off x="1143000" y="352428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the largest gains are at the bottom of the scale.</a:t>
            </a:r>
            <a:endParaRPr lang="en-US" sz="1200" dirty="0"/>
          </a:p>
        </p:txBody>
      </p:sp>
      <p:sp>
        <p:nvSpPr>
          <p:cNvPr id="12" name="Shape 10"/>
          <p:cNvSpPr/>
          <p:nvPr/>
        </p:nvSpPr>
        <p:spPr>
          <a:xfrm>
            <a:off x="6248370" y="3200400"/>
            <a:ext cx="38130" cy="800100"/>
          </a:xfrm>
          <a:prstGeom prst="rect">
            <a:avLst/>
          </a:prstGeom>
          <a:solidFill>
            <a:srgbClr val="4A7C59"/>
          </a:solidFill>
          <a:ln/>
        </p:spPr>
      </p:sp>
      <p:sp>
        <p:nvSpPr>
          <p:cNvPr id="13" name="Text 11"/>
          <p:cNvSpPr/>
          <p:nvPr/>
        </p:nvSpPr>
        <p:spPr>
          <a:xfrm>
            <a:off x="6476970" y="314325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Stops closer to housing</a:t>
            </a:r>
            <a:endParaRPr lang="en-US" sz="1575" dirty="0"/>
          </a:p>
        </p:txBody>
      </p:sp>
      <p:sp>
        <p:nvSpPr>
          <p:cNvPr id="14" name="Text 12"/>
          <p:cNvSpPr/>
          <p:nvPr/>
        </p:nvSpPr>
        <p:spPr>
          <a:xfrm>
            <a:off x="6476970" y="352428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the walk to the stop is part of the journey time.</a:t>
            </a:r>
            <a:endParaRPr lang="en-US" sz="1200" dirty="0"/>
          </a:p>
        </p:txBody>
      </p:sp>
      <p:sp>
        <p:nvSpPr>
          <p:cNvPr id="15" name="Shape 13"/>
          <p:cNvSpPr/>
          <p:nvPr/>
        </p:nvSpPr>
        <p:spPr>
          <a:xfrm>
            <a:off x="914400" y="4533870"/>
            <a:ext cx="38130" cy="800100"/>
          </a:xfrm>
          <a:prstGeom prst="rect">
            <a:avLst/>
          </a:prstGeom>
          <a:solidFill>
            <a:srgbClr val="4A7C59"/>
          </a:solidFill>
          <a:ln/>
        </p:spPr>
      </p:sp>
      <p:sp>
        <p:nvSpPr>
          <p:cNvPr id="16" name="Text 14"/>
          <p:cNvSpPr/>
          <p:nvPr/>
        </p:nvSpPr>
        <p:spPr>
          <a:xfrm>
            <a:off x="1143000" y="447672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Housing near destinations</a:t>
            </a:r>
            <a:endParaRPr lang="en-US" sz="1575" dirty="0"/>
          </a:p>
        </p:txBody>
      </p:sp>
      <p:sp>
        <p:nvSpPr>
          <p:cNvPr id="17" name="Text 15"/>
          <p:cNvSpPr/>
          <p:nvPr/>
        </p:nvSpPr>
        <p:spPr>
          <a:xfrm>
            <a:off x="1143000" y="485775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urban development moves the grade as much as timetables do.</a:t>
            </a:r>
            <a:endParaRPr lang="en-US" sz="1200" dirty="0"/>
          </a:p>
        </p:txBody>
      </p:sp>
      <p:sp>
        <p:nvSpPr>
          <p:cNvPr id="18" name="Shape 16"/>
          <p:cNvSpPr/>
          <p:nvPr/>
        </p:nvSpPr>
        <p:spPr>
          <a:xfrm>
            <a:off x="6248370" y="4533870"/>
            <a:ext cx="38130" cy="800100"/>
          </a:xfrm>
          <a:prstGeom prst="rect">
            <a:avLst/>
          </a:prstGeom>
          <a:solidFill>
            <a:srgbClr val="4A7C59"/>
          </a:solidFill>
          <a:ln/>
        </p:spPr>
      </p:sp>
      <p:sp>
        <p:nvSpPr>
          <p:cNvPr id="19" name="Text 17"/>
          <p:cNvSpPr/>
          <p:nvPr/>
        </p:nvSpPr>
        <p:spPr>
          <a:xfrm>
            <a:off x="6476970" y="4476720"/>
            <a:ext cx="4800600" cy="323880"/>
          </a:xfrm>
          <a:prstGeom prst="rect">
            <a:avLst/>
          </a:prstGeom>
          <a:noFill/>
          <a:ln/>
        </p:spPr>
        <p:txBody>
          <a:bodyPr wrap="square" lIns="0" tIns="0" rIns="0" bIns="0" rtlCol="0" anchor="t"/>
          <a:lstStyle/>
          <a:p>
            <a:pPr algn="l" indent="0" marL="0">
              <a:lnSpc>
                <a:spcPct val="125000"/>
              </a:lnSpc>
              <a:buNone/>
            </a:pPr>
            <a:r>
              <a:rPr lang="en-US" sz="1575" b="1" dirty="0">
                <a:solidFill>
                  <a:srgbClr val="1A1A1A"/>
                </a:solidFill>
                <a:latin typeface="Inter" pitchFamily="34" charset="0"/>
                <a:ea typeface="Inter" pitchFamily="34" charset="-122"/>
                <a:cs typeface="Inter" pitchFamily="34" charset="-120"/>
              </a:rPr>
              <a:t>New destinations</a:t>
            </a:r>
            <a:endParaRPr lang="en-US" sz="1575" dirty="0"/>
          </a:p>
        </p:txBody>
      </p:sp>
      <p:sp>
        <p:nvSpPr>
          <p:cNvPr id="20" name="Text 18"/>
          <p:cNvSpPr/>
          <p:nvPr/>
        </p:nvSpPr>
        <p:spPr>
          <a:xfrm>
            <a:off x="6476970" y="4857750"/>
            <a:ext cx="4800600" cy="533370"/>
          </a:xfrm>
          <a:prstGeom prst="rect">
            <a:avLst/>
          </a:prstGeom>
          <a:noFill/>
          <a:ln/>
        </p:spPr>
        <p:txBody>
          <a:bodyPr wrap="square" lIns="0" tIns="0" rIns="0" bIns="0" rtlCol="0" anchor="t"/>
          <a:lstStyle/>
          <a:p>
            <a:pPr algn="l" indent="0" marL="0">
              <a:lnSpc>
                <a:spcPct val="150000"/>
              </a:lnSpc>
              <a:buNone/>
            </a:pPr>
            <a:r>
              <a:rPr lang="en-US" sz="1200" dirty="0">
                <a:solidFill>
                  <a:srgbClr val="666666"/>
                </a:solidFill>
                <a:latin typeface="Inter" pitchFamily="34" charset="0"/>
                <a:ea typeface="Inter" pitchFamily="34" charset="-122"/>
                <a:cs typeface="Inter" pitchFamily="34" charset="-120"/>
              </a:rPr>
              <a:t>a school, a health centre, a grocery shop shortens the trip for every area around it.</a:t>
            </a:r>
            <a:endParaRPr lang="en-US" sz="1200" dirty="0"/>
          </a:p>
        </p:txBody>
      </p:sp>
      <p:sp>
        <p:nvSpPr>
          <p:cNvPr id="21" name="Text 19"/>
          <p:cNvSpPr/>
          <p:nvPr/>
        </p:nvSpPr>
        <p:spPr>
          <a:xfrm>
            <a:off x="914400" y="5753130"/>
            <a:ext cx="10363170" cy="28575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 mobilitetsatlas.dk/en/metode</a:t>
            </a:r>
            <a:endParaRPr lang="en-US" sz="975" dirty="0"/>
          </a:p>
        </p:txBody>
      </p:sp>
      <p:sp>
        <p:nvSpPr>
          <p:cNvPr id="22" name="Shape 20"/>
          <p:cNvSpPr/>
          <p:nvPr/>
        </p:nvSpPr>
        <p:spPr>
          <a:xfrm>
            <a:off x="914400" y="6096030"/>
            <a:ext cx="10363170" cy="9510"/>
          </a:xfrm>
          <a:prstGeom prst="rect">
            <a:avLst/>
          </a:prstGeom>
          <a:solidFill>
            <a:srgbClr val="333333">
              <a:alpha val="25000"/>
            </a:srgbClr>
          </a:solidFill>
          <a:ln/>
        </p:spPr>
      </p:sp>
      <p:sp>
        <p:nvSpPr>
          <p:cNvPr id="23" name="Text 21"/>
          <p:cNvSpPr/>
          <p:nvPr/>
        </p:nvSpPr>
        <p:spPr>
          <a:xfrm>
            <a:off x="914400" y="6210330"/>
            <a:ext cx="5143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Danmarks Mobilitetsatlas · Beta Mobility</a:t>
            </a:r>
            <a:endParaRPr lang="en-US" sz="975" dirty="0"/>
          </a:p>
        </p:txBody>
      </p:sp>
      <p:sp>
        <p:nvSpPr>
          <p:cNvPr id="24" name="Text 22"/>
          <p:cNvSpPr/>
          <p:nvPr/>
        </p:nvSpPr>
        <p:spPr>
          <a:xfrm>
            <a:off x="9372600" y="6210330"/>
            <a:ext cx="1904970" cy="266730"/>
          </a:xfrm>
          <a:prstGeom prst="rect">
            <a:avLst/>
          </a:prstGeom>
          <a:noFill/>
          <a:ln/>
        </p:spPr>
        <p:txBody>
          <a:bodyPr wrap="square" lIns="0" tIns="0" rIns="0" bIns="0" rtlCol="0" anchor="ctr"/>
          <a:lstStyle/>
          <a:p>
            <a:pPr algn="r" indent="0" marL="0">
              <a:lnSpc>
                <a:spcPct val="130000"/>
              </a:lnSpc>
              <a:buNone/>
            </a:pPr>
            <a:r>
              <a:rPr lang="en-US" sz="975" dirty="0">
                <a:solidFill>
                  <a:srgbClr val="666666"/>
                </a:solidFill>
                <a:latin typeface="DM Mono" pitchFamily="34" charset="0"/>
                <a:ea typeface="DM Mono" pitchFamily="34" charset="-122"/>
                <a:cs typeface="DM Mono" pitchFamily="34" charset="-120"/>
              </a:rPr>
              <a:t>14</a:t>
            </a:r>
            <a:endParaRPr lang="en-US" sz="9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9525030" y="914400"/>
            <a:ext cx="1143000" cy="1143000"/>
          </a:xfrm>
          <a:prstGeom prst="ellipse">
            <a:avLst/>
          </a:prstGeom>
          <a:solidFill>
            <a:srgbClr val="4A7C59"/>
          </a:solidFill>
          <a:ln/>
        </p:spPr>
      </p:sp>
      <p:sp>
        <p:nvSpPr>
          <p:cNvPr id="3" name="Text 1"/>
          <p:cNvSpPr/>
          <p:nvPr/>
        </p:nvSpPr>
        <p:spPr>
          <a:xfrm>
            <a:off x="914400" y="2400300"/>
            <a:ext cx="8191470" cy="1238280"/>
          </a:xfrm>
          <a:prstGeom prst="rect">
            <a:avLst/>
          </a:prstGeom>
          <a:noFill/>
          <a:ln/>
        </p:spPr>
        <p:txBody>
          <a:bodyPr wrap="square" lIns="0" tIns="0" rIns="0" bIns="0" rtlCol="0" anchor="t"/>
          <a:lstStyle/>
          <a:p>
            <a:pPr algn="l" indent="0" marL="0">
              <a:lnSpc>
                <a:spcPct val="105000"/>
              </a:lnSpc>
              <a:buNone/>
            </a:pPr>
            <a:r>
              <a:rPr lang="en-US" sz="4500" b="1" dirty="0">
                <a:solidFill>
                  <a:srgbClr val="1A1A1A"/>
                </a:solidFill>
                <a:latin typeface="Playfair Display" pitchFamily="34" charset="0"/>
                <a:ea typeface="Playfair Display" pitchFamily="34" charset="-122"/>
                <a:cs typeface="Playfair Display" pitchFamily="34" charset="-120"/>
              </a:rPr>
              <a:t>Where would you like to start?</a:t>
            </a:r>
            <a:endParaRPr lang="en-US" sz="4500" dirty="0"/>
          </a:p>
        </p:txBody>
      </p:sp>
      <p:sp>
        <p:nvSpPr>
          <p:cNvPr id="4" name="Text 2"/>
          <p:cNvSpPr/>
          <p:nvPr/>
        </p:nvSpPr>
        <p:spPr>
          <a:xfrm>
            <a:off x="914400" y="3771900"/>
            <a:ext cx="7619970" cy="1143000"/>
          </a:xfrm>
          <a:prstGeom prst="rect">
            <a:avLst/>
          </a:prstGeom>
          <a:noFill/>
          <a:ln/>
        </p:spPr>
        <p:txBody>
          <a:bodyPr wrap="square" lIns="0" tIns="0" rIns="0" bIns="0" rtlCol="0" anchor="t"/>
          <a:lstStyle/>
          <a:p>
            <a:pPr algn="l" indent="0" marL="0">
              <a:lnSpc>
                <a:spcPct val="150000"/>
              </a:lnSpc>
              <a:buNone/>
            </a:pPr>
            <a:r>
              <a:rPr lang="en-US" sz="1650" dirty="0">
                <a:solidFill>
                  <a:srgbClr val="666666"/>
                </a:solidFill>
                <a:latin typeface="Inter" pitchFamily="34" charset="0"/>
                <a:ea typeface="Inter" pitchFamily="34" charset="-122"/>
                <a:cs typeface="Inter" pitchFamily="34" charset="-120"/>
              </a:rPr>
              <a:t>Look up your municipality on mobilitetsatlas.dk · Send us the plans we have missed · Or go through your grade with us, cell by cell.</a:t>
            </a:r>
            <a:endParaRPr lang="en-US" sz="1650" dirty="0"/>
          </a:p>
        </p:txBody>
      </p:sp>
      <p:sp>
        <p:nvSpPr>
          <p:cNvPr id="5" name="Text 3"/>
          <p:cNvSpPr/>
          <p:nvPr/>
        </p:nvSpPr>
        <p:spPr>
          <a:xfrm>
            <a:off x="914400" y="5105370"/>
            <a:ext cx="7619970" cy="533370"/>
          </a:xfrm>
          <a:prstGeom prst="rect">
            <a:avLst/>
          </a:prstGeom>
          <a:noFill/>
          <a:ln/>
        </p:spPr>
        <p:txBody>
          <a:bodyPr wrap="square" lIns="0" tIns="0" rIns="0" bIns="0" rtlCol="0" anchor="t"/>
          <a:lstStyle/>
          <a:p>
            <a:pPr algn="l" indent="0" marL="0">
              <a:lnSpc>
                <a:spcPct val="150000"/>
              </a:lnSpc>
              <a:buNone/>
            </a:pPr>
            <a:r>
              <a:rPr lang="en-US" sz="1125" dirty="0">
                <a:solidFill>
                  <a:srgbClr val="999999"/>
                </a:solidFill>
                <a:latin typeface="Inter" pitchFamily="34" charset="0"/>
                <a:ea typeface="Inter" pitchFamily="34" charset="-122"/>
                <a:cs typeface="Inter" pitchFamily="34" charset="-120"/>
              </a:rPr>
              <a:t>Danmarks Mobilitetsatlas is published under CC BY-SA 4.0. Screenshot it, quote it, build on it, with credit to Beta Mobility.</a:t>
            </a:r>
            <a:endParaRPr lang="en-US" sz="1125" dirty="0"/>
          </a:p>
        </p:txBody>
      </p:sp>
      <p:sp>
        <p:nvSpPr>
          <p:cNvPr id="6" name="Text 4"/>
          <p:cNvSpPr/>
          <p:nvPr/>
        </p:nvSpPr>
        <p:spPr>
          <a:xfrm>
            <a:off x="914400" y="5905470"/>
            <a:ext cx="8572500" cy="266730"/>
          </a:xfrm>
          <a:prstGeom prst="rect">
            <a:avLst/>
          </a:prstGeom>
          <a:noFill/>
          <a:ln/>
        </p:spPr>
        <p:txBody>
          <a:bodyPr wrap="square" lIns="0" tIns="0" rIns="0" bIns="0" rtlCol="0" anchor="ctr"/>
          <a:lstStyle/>
          <a:p>
            <a:pPr algn="l" indent="0" marL="0">
              <a:lnSpc>
                <a:spcPct val="130000"/>
              </a:lnSpc>
              <a:buNone/>
            </a:pPr>
            <a:r>
              <a:rPr lang="en-US" sz="975" dirty="0">
                <a:solidFill>
                  <a:srgbClr val="666666"/>
                </a:solidFill>
                <a:latin typeface="DM Mono" pitchFamily="34" charset="0"/>
                <a:ea typeface="DM Mono" pitchFamily="34" charset="-122"/>
                <a:cs typeface="DM Mono" pitchFamily="34" charset="-120"/>
              </a:rPr>
              <a:t>Beta Mobility · Robert Martin · 9/9/2026</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Beta Mobility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Danmarks Mobilitetsatlas — an introduction for municipalities</dc:title>
  <dc:subject>Danmarks Mobilitetsatlas</dc:subject>
  <dc:creator>Robert Martin</dc:creator>
  <cp:lastModifiedBy>Robert Martin</cp:lastModifiedBy>
  <cp:revision>1</cp:revision>
  <dcterms:created xsi:type="dcterms:W3CDTF">2026-09-09T09:36:06Z</dcterms:created>
  <dcterms:modified xsi:type="dcterms:W3CDTF">2026-09-09T09:36:06Z</dcterms:modified>
</cp:coreProperties>
</file>